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media/image3.jpg" ContentType="image/jpe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9"/>
  </p:notesMasterIdLst>
  <p:sldIdLst>
    <p:sldId id="256" r:id="rId3"/>
    <p:sldId id="257" r:id="rId4"/>
    <p:sldId id="276" r:id="rId5"/>
    <p:sldId id="279" r:id="rId6"/>
    <p:sldId id="280" r:id="rId7"/>
    <p:sldId id="296" r:id="rId8"/>
    <p:sldId id="298" r:id="rId9"/>
    <p:sldId id="297" r:id="rId10"/>
    <p:sldId id="299" r:id="rId11"/>
    <p:sldId id="301" r:id="rId12"/>
    <p:sldId id="302" r:id="rId13"/>
    <p:sldId id="300" r:id="rId14"/>
    <p:sldId id="303" r:id="rId15"/>
    <p:sldId id="289" r:id="rId16"/>
    <p:sldId id="304" r:id="rId17"/>
    <p:sldId id="305" r:id="rId18"/>
    <p:sldId id="307" r:id="rId19"/>
    <p:sldId id="308" r:id="rId20"/>
    <p:sldId id="306" r:id="rId21"/>
    <p:sldId id="316" r:id="rId22"/>
    <p:sldId id="309" r:id="rId23"/>
    <p:sldId id="314" r:id="rId24"/>
    <p:sldId id="313" r:id="rId25"/>
    <p:sldId id="311" r:id="rId26"/>
    <p:sldId id="317" r:id="rId27"/>
    <p:sldId id="31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DC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8B77E0-1393-4761-B57D-AF6C099759EB}" v="49" dt="2026-07-13T15:25:33.0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71913" autoAdjust="0"/>
  </p:normalViewPr>
  <p:slideViewPr>
    <p:cSldViewPr snapToGrid="0">
      <p:cViewPr varScale="1">
        <p:scale>
          <a:sx n="58" d="100"/>
          <a:sy n="58" d="100"/>
        </p:scale>
        <p:origin x="146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rto Rancharan" userId="f6dc5716aebcf8e3" providerId="LiveId" clId="{868EC47D-4713-4C32-8EF0-B5E4A96CFD25}"/>
    <pc:docChg chg="undo custSel addSld delSld modSld sldOrd">
      <pc:chgData name="Norberto Rancharan" userId="f6dc5716aebcf8e3" providerId="LiveId" clId="{868EC47D-4713-4C32-8EF0-B5E4A96CFD25}" dt="2026-07-13T16:03:37.752" v="5893" actId="1076"/>
      <pc:docMkLst>
        <pc:docMk/>
      </pc:docMkLst>
      <pc:sldChg chg="modSp mod">
        <pc:chgData name="Norberto Rancharan" userId="f6dc5716aebcf8e3" providerId="LiveId" clId="{868EC47D-4713-4C32-8EF0-B5E4A96CFD25}" dt="2026-06-30T04:46:12.049" v="1642" actId="20577"/>
        <pc:sldMkLst>
          <pc:docMk/>
          <pc:sldMk cId="3434056902" sldId="257"/>
        </pc:sldMkLst>
        <pc:spChg chg="mod">
          <ac:chgData name="Norberto Rancharan" userId="f6dc5716aebcf8e3" providerId="LiveId" clId="{868EC47D-4713-4C32-8EF0-B5E4A96CFD25}" dt="2026-06-29T21:13:48.620" v="109" actId="20577"/>
          <ac:spMkLst>
            <pc:docMk/>
            <pc:sldMk cId="3434056902" sldId="257"/>
            <ac:spMk id="5" creationId="{D0EFC5AC-703E-C733-8B78-DF617971881C}"/>
          </ac:spMkLst>
        </pc:spChg>
        <pc:spChg chg="mod">
          <ac:chgData name="Norberto Rancharan" userId="f6dc5716aebcf8e3" providerId="LiveId" clId="{868EC47D-4713-4C32-8EF0-B5E4A96CFD25}" dt="2026-06-30T04:46:12.049" v="1642" actId="20577"/>
          <ac:spMkLst>
            <pc:docMk/>
            <pc:sldMk cId="3434056902" sldId="257"/>
            <ac:spMk id="11" creationId="{EF0F6973-B14A-8112-6DE2-3CD3E3D1C39F}"/>
          </ac:spMkLst>
        </pc:spChg>
      </pc:sldChg>
      <pc:sldChg chg="modSp mod">
        <pc:chgData name="Norberto Rancharan" userId="f6dc5716aebcf8e3" providerId="LiveId" clId="{868EC47D-4713-4C32-8EF0-B5E4A96CFD25}" dt="2026-07-12T18:43:37.347" v="1694" actId="1076"/>
        <pc:sldMkLst>
          <pc:docMk/>
          <pc:sldMk cId="80942570" sldId="279"/>
        </pc:sldMkLst>
        <pc:picChg chg="mod">
          <ac:chgData name="Norberto Rancharan" userId="f6dc5716aebcf8e3" providerId="LiveId" clId="{868EC47D-4713-4C32-8EF0-B5E4A96CFD25}" dt="2026-07-12T18:43:37.347" v="1694" actId="1076"/>
          <ac:picMkLst>
            <pc:docMk/>
            <pc:sldMk cId="80942570" sldId="279"/>
            <ac:picMk id="8" creationId="{22306426-636B-1C3A-A8ED-24F5C0C17234}"/>
          </ac:picMkLst>
        </pc:picChg>
      </pc:sldChg>
      <pc:sldChg chg="modNotesTx">
        <pc:chgData name="Norberto Rancharan" userId="f6dc5716aebcf8e3" providerId="LiveId" clId="{868EC47D-4713-4C32-8EF0-B5E4A96CFD25}" dt="2026-07-13T06:34:24.273" v="3717" actId="20577"/>
        <pc:sldMkLst>
          <pc:docMk/>
          <pc:sldMk cId="2507788737" sldId="297"/>
        </pc:sldMkLst>
      </pc:sldChg>
      <pc:sldChg chg="modNotesTx">
        <pc:chgData name="Norberto Rancharan" userId="f6dc5716aebcf8e3" providerId="LiveId" clId="{868EC47D-4713-4C32-8EF0-B5E4A96CFD25}" dt="2026-07-13T07:47:42.132" v="5040" actId="113"/>
        <pc:sldMkLst>
          <pc:docMk/>
          <pc:sldMk cId="236321547" sldId="298"/>
        </pc:sldMkLst>
      </pc:sldChg>
      <pc:sldChg chg="modNotesTx">
        <pc:chgData name="Norberto Rancharan" userId="f6dc5716aebcf8e3" providerId="LiveId" clId="{868EC47D-4713-4C32-8EF0-B5E4A96CFD25}" dt="2026-07-13T07:48:01.285" v="5041" actId="113"/>
        <pc:sldMkLst>
          <pc:docMk/>
          <pc:sldMk cId="95889682" sldId="299"/>
        </pc:sldMkLst>
      </pc:sldChg>
      <pc:sldChg chg="modNotesTx">
        <pc:chgData name="Norberto Rancharan" userId="f6dc5716aebcf8e3" providerId="LiveId" clId="{868EC47D-4713-4C32-8EF0-B5E4A96CFD25}" dt="2026-07-13T15:05:06.144" v="5827" actId="20577"/>
        <pc:sldMkLst>
          <pc:docMk/>
          <pc:sldMk cId="2504402290" sldId="300"/>
        </pc:sldMkLst>
      </pc:sldChg>
      <pc:sldChg chg="ord modNotesTx">
        <pc:chgData name="Norberto Rancharan" userId="f6dc5716aebcf8e3" providerId="LiveId" clId="{868EC47D-4713-4C32-8EF0-B5E4A96CFD25}" dt="2026-07-13T15:07:56.337" v="5861" actId="20577"/>
        <pc:sldMkLst>
          <pc:docMk/>
          <pc:sldMk cId="2116702950" sldId="302"/>
        </pc:sldMkLst>
      </pc:sldChg>
      <pc:sldChg chg="modNotesTx">
        <pc:chgData name="Norberto Rancharan" userId="f6dc5716aebcf8e3" providerId="LiveId" clId="{868EC47D-4713-4C32-8EF0-B5E4A96CFD25}" dt="2026-07-13T06:12:23.142" v="3145" actId="20577"/>
        <pc:sldMkLst>
          <pc:docMk/>
          <pc:sldMk cId="2705388530" sldId="303"/>
        </pc:sldMkLst>
      </pc:sldChg>
      <pc:sldChg chg="modSp mod">
        <pc:chgData name="Norberto Rancharan" userId="f6dc5716aebcf8e3" providerId="LiveId" clId="{868EC47D-4713-4C32-8EF0-B5E4A96CFD25}" dt="2026-07-13T15:10:34.755" v="5882" actId="20577"/>
        <pc:sldMkLst>
          <pc:docMk/>
          <pc:sldMk cId="840407673" sldId="304"/>
        </pc:sldMkLst>
        <pc:spChg chg="mod">
          <ac:chgData name="Norberto Rancharan" userId="f6dc5716aebcf8e3" providerId="LiveId" clId="{868EC47D-4713-4C32-8EF0-B5E4A96CFD25}" dt="2026-07-13T15:10:34.755" v="5882" actId="20577"/>
          <ac:spMkLst>
            <pc:docMk/>
            <pc:sldMk cId="840407673" sldId="304"/>
            <ac:spMk id="6" creationId="{7197AEAB-A38E-9C1E-C52E-61C400E153BA}"/>
          </ac:spMkLst>
        </pc:spChg>
      </pc:sldChg>
      <pc:sldChg chg="modSp mod modNotesTx">
        <pc:chgData name="Norberto Rancharan" userId="f6dc5716aebcf8e3" providerId="LiveId" clId="{868EC47D-4713-4C32-8EF0-B5E4A96CFD25}" dt="2026-07-13T15:20:49.859" v="5884" actId="113"/>
        <pc:sldMkLst>
          <pc:docMk/>
          <pc:sldMk cId="722788795" sldId="305"/>
        </pc:sldMkLst>
        <pc:spChg chg="mod">
          <ac:chgData name="Norberto Rancharan" userId="f6dc5716aebcf8e3" providerId="LiveId" clId="{868EC47D-4713-4C32-8EF0-B5E4A96CFD25}" dt="2026-06-29T21:14:34.068" v="111" actId="1076"/>
          <ac:spMkLst>
            <pc:docMk/>
            <pc:sldMk cId="722788795" sldId="305"/>
            <ac:spMk id="7" creationId="{03595D18-9F07-89DD-A415-01ADD3CCBFE2}"/>
          </ac:spMkLst>
        </pc:spChg>
        <pc:picChg chg="mod">
          <ac:chgData name="Norberto Rancharan" userId="f6dc5716aebcf8e3" providerId="LiveId" clId="{868EC47D-4713-4C32-8EF0-B5E4A96CFD25}" dt="2026-06-29T21:14:30.917" v="110" actId="1076"/>
          <ac:picMkLst>
            <pc:docMk/>
            <pc:sldMk cId="722788795" sldId="305"/>
            <ac:picMk id="2" creationId="{C74179BE-3A6E-ADD9-9229-CC5573A911E4}"/>
          </ac:picMkLst>
        </pc:picChg>
      </pc:sldChg>
      <pc:sldChg chg="addSp delSp modSp mod modNotesTx">
        <pc:chgData name="Norberto Rancharan" userId="f6dc5716aebcf8e3" providerId="LiveId" clId="{868EC47D-4713-4C32-8EF0-B5E4A96CFD25}" dt="2026-07-13T16:03:37.752" v="5893" actId="1076"/>
        <pc:sldMkLst>
          <pc:docMk/>
          <pc:sldMk cId="3355385541" sldId="306"/>
        </pc:sldMkLst>
        <pc:spChg chg="mod">
          <ac:chgData name="Norberto Rancharan" userId="f6dc5716aebcf8e3" providerId="LiveId" clId="{868EC47D-4713-4C32-8EF0-B5E4A96CFD25}" dt="2026-06-29T20:56:59.568" v="44" actId="20577"/>
          <ac:spMkLst>
            <pc:docMk/>
            <pc:sldMk cId="3355385541" sldId="306"/>
            <ac:spMk id="5" creationId="{496DD537-611C-444A-70E5-9326A165C6CB}"/>
          </ac:spMkLst>
        </pc:spChg>
        <pc:spChg chg="mod">
          <ac:chgData name="Norberto Rancharan" userId="f6dc5716aebcf8e3" providerId="LiveId" clId="{868EC47D-4713-4C32-8EF0-B5E4A96CFD25}" dt="2026-06-29T21:06:42.699" v="53" actId="26606"/>
          <ac:spMkLst>
            <pc:docMk/>
            <pc:sldMk cId="3355385541" sldId="306"/>
            <ac:spMk id="6" creationId="{226DC97F-3C7D-D74C-BBFB-7566C2D2F275}"/>
          </ac:spMkLst>
        </pc:spChg>
        <pc:spChg chg="mod">
          <ac:chgData name="Norberto Rancharan" userId="f6dc5716aebcf8e3" providerId="LiveId" clId="{868EC47D-4713-4C32-8EF0-B5E4A96CFD25}" dt="2026-06-29T21:03:53.858" v="49"/>
          <ac:spMkLst>
            <pc:docMk/>
            <pc:sldMk cId="3355385541" sldId="306"/>
            <ac:spMk id="7" creationId="{1556004F-C9E7-552F-8D43-6121CE067A71}"/>
          </ac:spMkLst>
        </pc:spChg>
        <pc:picChg chg="add mod">
          <ac:chgData name="Norberto Rancharan" userId="f6dc5716aebcf8e3" providerId="LiveId" clId="{868EC47D-4713-4C32-8EF0-B5E4A96CFD25}" dt="2026-07-13T16:03:37.752" v="5893" actId="1076"/>
          <ac:picMkLst>
            <pc:docMk/>
            <pc:sldMk cId="3355385541" sldId="306"/>
            <ac:picMk id="8" creationId="{462DC558-0795-B425-BE69-3594E8C903D2}"/>
          </ac:picMkLst>
        </pc:picChg>
      </pc:sldChg>
      <pc:sldChg chg="ord modNotesTx">
        <pc:chgData name="Norberto Rancharan" userId="f6dc5716aebcf8e3" providerId="LiveId" clId="{868EC47D-4713-4C32-8EF0-B5E4A96CFD25}" dt="2026-07-13T15:22:50.339" v="5887" actId="20577"/>
        <pc:sldMkLst>
          <pc:docMk/>
          <pc:sldMk cId="563156115" sldId="307"/>
        </pc:sldMkLst>
      </pc:sldChg>
      <pc:sldChg chg="modSp add mod ord">
        <pc:chgData name="Norberto Rancharan" userId="f6dc5716aebcf8e3" providerId="LiveId" clId="{868EC47D-4713-4C32-8EF0-B5E4A96CFD25}" dt="2026-06-30T04:45:18.970" v="1594" actId="14100"/>
        <pc:sldMkLst>
          <pc:docMk/>
          <pc:sldMk cId="2661003189" sldId="308"/>
        </pc:sldMkLst>
        <pc:spChg chg="mod">
          <ac:chgData name="Norberto Rancharan" userId="f6dc5716aebcf8e3" providerId="LiveId" clId="{868EC47D-4713-4C32-8EF0-B5E4A96CFD25}" dt="2026-06-30T04:45:18.970" v="1594" actId="14100"/>
          <ac:spMkLst>
            <pc:docMk/>
            <pc:sldMk cId="2661003189" sldId="308"/>
            <ac:spMk id="2" creationId="{415DA280-C81A-C6E3-6037-4C2AB7B19AEB}"/>
          </ac:spMkLst>
        </pc:spChg>
      </pc:sldChg>
      <pc:sldChg chg="addSp delSp modSp add mod ord modNotesTx">
        <pc:chgData name="Norberto Rancharan" userId="f6dc5716aebcf8e3" providerId="LiveId" clId="{868EC47D-4713-4C32-8EF0-B5E4A96CFD25}" dt="2026-07-13T14:19:56.996" v="5479" actId="20577"/>
        <pc:sldMkLst>
          <pc:docMk/>
          <pc:sldMk cId="1912807280" sldId="309"/>
        </pc:sldMkLst>
        <pc:spChg chg="add mod">
          <ac:chgData name="Norberto Rancharan" userId="f6dc5716aebcf8e3" providerId="LiveId" clId="{868EC47D-4713-4C32-8EF0-B5E4A96CFD25}" dt="2026-06-29T21:22:33.253" v="409" actId="115"/>
          <ac:spMkLst>
            <pc:docMk/>
            <pc:sldMk cId="1912807280" sldId="309"/>
            <ac:spMk id="3" creationId="{45091229-D3E0-72D8-5792-9972E6788E5D}"/>
          </ac:spMkLst>
        </pc:spChg>
        <pc:spChg chg="mod">
          <ac:chgData name="Norberto Rancharan" userId="f6dc5716aebcf8e3" providerId="LiveId" clId="{868EC47D-4713-4C32-8EF0-B5E4A96CFD25}" dt="2026-06-29T21:20:30.966" v="190" actId="20577"/>
          <ac:spMkLst>
            <pc:docMk/>
            <pc:sldMk cId="1912807280" sldId="309"/>
            <ac:spMk id="5" creationId="{5D68B347-9739-264F-AAAB-97CA3A8FD664}"/>
          </ac:spMkLst>
        </pc:spChg>
        <pc:spChg chg="add mod">
          <ac:chgData name="Norberto Rancharan" userId="f6dc5716aebcf8e3" providerId="LiveId" clId="{868EC47D-4713-4C32-8EF0-B5E4A96CFD25}" dt="2026-06-29T21:23:57.712" v="607" actId="20577"/>
          <ac:spMkLst>
            <pc:docMk/>
            <pc:sldMk cId="1912807280" sldId="309"/>
            <ac:spMk id="10" creationId="{A246DDE9-09D0-72A3-E40D-0A324D172FD6}"/>
          </ac:spMkLst>
        </pc:spChg>
      </pc:sldChg>
      <pc:sldChg chg="addSp delSp modSp add mod ord modNotesTx">
        <pc:chgData name="Norberto Rancharan" userId="f6dc5716aebcf8e3" providerId="LiveId" clId="{868EC47D-4713-4C32-8EF0-B5E4A96CFD25}" dt="2026-07-13T14:52:58.831" v="5653"/>
        <pc:sldMkLst>
          <pc:docMk/>
          <pc:sldMk cId="1799441093" sldId="311"/>
        </pc:sldMkLst>
        <pc:spChg chg="mod">
          <ac:chgData name="Norberto Rancharan" userId="f6dc5716aebcf8e3" providerId="LiveId" clId="{868EC47D-4713-4C32-8EF0-B5E4A96CFD25}" dt="2026-06-29T21:46:43.218" v="691" actId="20577"/>
          <ac:spMkLst>
            <pc:docMk/>
            <pc:sldMk cId="1799441093" sldId="311"/>
            <ac:spMk id="5" creationId="{E4BDF74C-7920-C98F-6615-CDFBC9525DF5}"/>
          </ac:spMkLst>
        </pc:spChg>
        <pc:spChg chg="mod">
          <ac:chgData name="Norberto Rancharan" userId="f6dc5716aebcf8e3" providerId="LiveId" clId="{868EC47D-4713-4C32-8EF0-B5E4A96CFD25}" dt="2026-06-29T22:20:48.219" v="1239" actId="113"/>
          <ac:spMkLst>
            <pc:docMk/>
            <pc:sldMk cId="1799441093" sldId="311"/>
            <ac:spMk id="6" creationId="{C5F95638-B85B-FD00-F9DB-F5E0E346E2B9}"/>
          </ac:spMkLst>
        </pc:spChg>
        <pc:picChg chg="add mod">
          <ac:chgData name="Norberto Rancharan" userId="f6dc5716aebcf8e3" providerId="LiveId" clId="{868EC47D-4713-4C32-8EF0-B5E4A96CFD25}" dt="2026-06-30T04:05:12.576" v="1493" actId="1076"/>
          <ac:picMkLst>
            <pc:docMk/>
            <pc:sldMk cId="1799441093" sldId="311"/>
            <ac:picMk id="3" creationId="{A86C98E4-C4D3-7138-63A3-927A97923B9F}"/>
          </ac:picMkLst>
        </pc:picChg>
      </pc:sldChg>
      <pc:sldChg chg="addSp delSp modSp add mod modNotesTx">
        <pc:chgData name="Norberto Rancharan" userId="f6dc5716aebcf8e3" providerId="LiveId" clId="{868EC47D-4713-4C32-8EF0-B5E4A96CFD25}" dt="2026-07-13T14:57:13.397" v="5807" actId="20577"/>
        <pc:sldMkLst>
          <pc:docMk/>
          <pc:sldMk cId="2574724320" sldId="313"/>
        </pc:sldMkLst>
        <pc:spChg chg="mod">
          <ac:chgData name="Norberto Rancharan" userId="f6dc5716aebcf8e3" providerId="LiveId" clId="{868EC47D-4713-4C32-8EF0-B5E4A96CFD25}" dt="2026-06-29T21:47:09.027" v="709" actId="1076"/>
          <ac:spMkLst>
            <pc:docMk/>
            <pc:sldMk cId="2574724320" sldId="313"/>
            <ac:spMk id="4" creationId="{5C46362D-0BA3-E720-6921-A93A05944E46}"/>
          </ac:spMkLst>
        </pc:spChg>
        <pc:spChg chg="mod">
          <ac:chgData name="Norberto Rancharan" userId="f6dc5716aebcf8e3" providerId="LiveId" clId="{868EC47D-4713-4C32-8EF0-B5E4A96CFD25}" dt="2026-06-29T21:47:20.241" v="725" actId="20577"/>
          <ac:spMkLst>
            <pc:docMk/>
            <pc:sldMk cId="2574724320" sldId="313"/>
            <ac:spMk id="5" creationId="{FFB1E7AF-2148-0E46-9276-6AC71407F35A}"/>
          </ac:spMkLst>
        </pc:spChg>
        <pc:spChg chg="add mod">
          <ac:chgData name="Norberto Rancharan" userId="f6dc5716aebcf8e3" providerId="LiveId" clId="{868EC47D-4713-4C32-8EF0-B5E4A96CFD25}" dt="2026-06-30T04:10:16.058" v="1514"/>
          <ac:spMkLst>
            <pc:docMk/>
            <pc:sldMk cId="2574724320" sldId="313"/>
            <ac:spMk id="10" creationId="{F5753452-DE68-D291-5AA9-4769CFB1A203}"/>
          </ac:spMkLst>
        </pc:spChg>
        <pc:picChg chg="add mod">
          <ac:chgData name="Norberto Rancharan" userId="f6dc5716aebcf8e3" providerId="LiveId" clId="{868EC47D-4713-4C32-8EF0-B5E4A96CFD25}" dt="2026-06-30T04:05:53.552" v="1505" actId="1076"/>
          <ac:picMkLst>
            <pc:docMk/>
            <pc:sldMk cId="2574724320" sldId="313"/>
            <ac:picMk id="3" creationId="{93B3DB0E-44DD-3686-F65A-90C29CEE324F}"/>
          </ac:picMkLst>
        </pc:picChg>
      </pc:sldChg>
      <pc:sldChg chg="addSp delSp modSp add mod modNotesTx">
        <pc:chgData name="Norberto Rancharan" userId="f6dc5716aebcf8e3" providerId="LiveId" clId="{868EC47D-4713-4C32-8EF0-B5E4A96CFD25}" dt="2026-07-13T14:45:34.977" v="5630" actId="20577"/>
        <pc:sldMkLst>
          <pc:docMk/>
          <pc:sldMk cId="2996702352" sldId="314"/>
        </pc:sldMkLst>
        <pc:spChg chg="mod">
          <ac:chgData name="Norberto Rancharan" userId="f6dc5716aebcf8e3" providerId="LiveId" clId="{868EC47D-4713-4C32-8EF0-B5E4A96CFD25}" dt="2026-06-29T22:54:12.956" v="1476" actId="20577"/>
          <ac:spMkLst>
            <pc:docMk/>
            <pc:sldMk cId="2996702352" sldId="314"/>
            <ac:spMk id="5" creationId="{F7A6EB7F-6542-2BF9-A436-22F80616F9B5}"/>
          </ac:spMkLst>
        </pc:spChg>
        <pc:spChg chg="mod">
          <ac:chgData name="Norberto Rancharan" userId="f6dc5716aebcf8e3" providerId="LiveId" clId="{868EC47D-4713-4C32-8EF0-B5E4A96CFD25}" dt="2026-06-30T04:51:22.079" v="1693" actId="1076"/>
          <ac:spMkLst>
            <pc:docMk/>
            <pc:sldMk cId="2996702352" sldId="314"/>
            <ac:spMk id="6" creationId="{0B47374B-F814-6FFE-0A4F-6BC7CBE709C1}"/>
          </ac:spMkLst>
        </pc:spChg>
        <pc:picChg chg="add mod">
          <ac:chgData name="Norberto Rancharan" userId="f6dc5716aebcf8e3" providerId="LiveId" clId="{868EC47D-4713-4C32-8EF0-B5E4A96CFD25}" dt="2026-06-30T04:04:44.861" v="1485" actId="1076"/>
          <ac:picMkLst>
            <pc:docMk/>
            <pc:sldMk cId="2996702352" sldId="314"/>
            <ac:picMk id="12" creationId="{88D56D8C-38A7-D995-F36C-155CE1ADAF63}"/>
          </ac:picMkLst>
        </pc:picChg>
      </pc:sldChg>
      <pc:sldChg chg="addSp delSp modSp add mod">
        <pc:chgData name="Norberto Rancharan" userId="f6dc5716aebcf8e3" providerId="LiveId" clId="{868EC47D-4713-4C32-8EF0-B5E4A96CFD25}" dt="2026-06-30T04:45:51.238" v="1631" actId="20577"/>
        <pc:sldMkLst>
          <pc:docMk/>
          <pc:sldMk cId="1511291211" sldId="315"/>
        </pc:sldMkLst>
        <pc:spChg chg="mod">
          <ac:chgData name="Norberto Rancharan" userId="f6dc5716aebcf8e3" providerId="LiveId" clId="{868EC47D-4713-4C32-8EF0-B5E4A96CFD25}" dt="2026-06-30T04:45:46.090" v="1629" actId="20577"/>
          <ac:spMkLst>
            <pc:docMk/>
            <pc:sldMk cId="1511291211" sldId="315"/>
            <ac:spMk id="5" creationId="{611DDCED-7082-A176-8B73-4D8E797CDB07}"/>
          </ac:spMkLst>
        </pc:spChg>
        <pc:spChg chg="mod">
          <ac:chgData name="Norberto Rancharan" userId="f6dc5716aebcf8e3" providerId="LiveId" clId="{868EC47D-4713-4C32-8EF0-B5E4A96CFD25}" dt="2026-06-30T04:45:51.238" v="1631" actId="20577"/>
          <ac:spMkLst>
            <pc:docMk/>
            <pc:sldMk cId="1511291211" sldId="315"/>
            <ac:spMk id="10" creationId="{9371EEA8-70A3-D407-C6E9-178D9F475A37}"/>
          </ac:spMkLst>
        </pc:spChg>
      </pc:sldChg>
      <pc:sldChg chg="modSp add mod">
        <pc:chgData name="Norberto Rancharan" userId="f6dc5716aebcf8e3" providerId="LiveId" clId="{868EC47D-4713-4C32-8EF0-B5E4A96CFD25}" dt="2026-06-30T04:45:26.788" v="1596" actId="20577"/>
        <pc:sldMkLst>
          <pc:docMk/>
          <pc:sldMk cId="164711288" sldId="316"/>
        </pc:sldMkLst>
        <pc:spChg chg="mod">
          <ac:chgData name="Norberto Rancharan" userId="f6dc5716aebcf8e3" providerId="LiveId" clId="{868EC47D-4713-4C32-8EF0-B5E4A96CFD25}" dt="2026-06-30T04:45:26.788" v="1596" actId="20577"/>
          <ac:spMkLst>
            <pc:docMk/>
            <pc:sldMk cId="164711288" sldId="316"/>
            <ac:spMk id="2" creationId="{6AAE6D4B-CA7F-D28A-94AF-54083F0E187D}"/>
          </ac:spMkLst>
        </pc:spChg>
      </pc:sldChg>
      <pc:sldChg chg="modSp add mod ord">
        <pc:chgData name="Norberto Rancharan" userId="f6dc5716aebcf8e3" providerId="LiveId" clId="{868EC47D-4713-4C32-8EF0-B5E4A96CFD25}" dt="2026-06-30T04:46:38.225" v="1692" actId="20577"/>
        <pc:sldMkLst>
          <pc:docMk/>
          <pc:sldMk cId="428035420" sldId="317"/>
        </pc:sldMkLst>
        <pc:spChg chg="mod">
          <ac:chgData name="Norberto Rancharan" userId="f6dc5716aebcf8e3" providerId="LiveId" clId="{868EC47D-4713-4C32-8EF0-B5E4A96CFD25}" dt="2026-06-30T04:46:38.225" v="1692" actId="20577"/>
          <ac:spMkLst>
            <pc:docMk/>
            <pc:sldMk cId="428035420" sldId="317"/>
            <ac:spMk id="2" creationId="{47B800B5-3653-D466-A26A-523EE16A2D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18D40-8400-49DC-B72F-2DDB9D70881F}" type="datetimeFigureOut">
              <a:rPr lang="en-US" smtClean="0"/>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BE84DB-4AAE-45B9-91CC-5E1B007624A1}" type="slidenum">
              <a:rPr lang="en-US" smtClean="0"/>
              <a:t>‹#›</a:t>
            </a:fld>
            <a:endParaRPr lang="en-US"/>
          </a:p>
        </p:txBody>
      </p:sp>
    </p:spTree>
    <p:extLst>
      <p:ext uri="{BB962C8B-B14F-4D97-AF65-F5344CB8AC3E}">
        <p14:creationId xmlns:p14="http://schemas.microsoft.com/office/powerpoint/2010/main" val="3181847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BE84DB-4AAE-45B9-91CC-5E1B007624A1}" type="slidenum">
              <a:rPr lang="en-US" smtClean="0"/>
              <a:t>2</a:t>
            </a:fld>
            <a:endParaRPr lang="en-US"/>
          </a:p>
        </p:txBody>
      </p:sp>
    </p:spTree>
    <p:extLst>
      <p:ext uri="{BB962C8B-B14F-4D97-AF65-F5344CB8AC3E}">
        <p14:creationId xmlns:p14="http://schemas.microsoft.com/office/powerpoint/2010/main" val="3154885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(Critical indicator of the seller’s historical credit appetite)</a:t>
            </a:r>
          </a:p>
          <a:p>
            <a:endParaRPr lang="en-US" dirty="0"/>
          </a:p>
          <a:p>
            <a:r>
              <a:rPr lang="en-US" b="1" dirty="0"/>
              <a:t>2016-2018, </a:t>
            </a:r>
            <a:r>
              <a:rPr lang="en-US" dirty="0"/>
              <a:t>The weighted average FICO consistently hovered right around the </a:t>
            </a:r>
            <a:r>
              <a:rPr lang="en-US" b="1" dirty="0"/>
              <a:t>740</a:t>
            </a:r>
            <a:r>
              <a:rPr lang="en-US" dirty="0"/>
              <a:t> mark.</a:t>
            </a:r>
          </a:p>
          <a:p>
            <a:r>
              <a:rPr lang="en-US" dirty="0"/>
              <a:t>Looks underwriting conservative, the entire portfolio focused on prime-tier credit quality.</a:t>
            </a:r>
          </a:p>
          <a:p>
            <a:endParaRPr lang="en-US" dirty="0"/>
          </a:p>
          <a:p>
            <a:r>
              <a:rPr lang="en-US" b="1" dirty="0"/>
              <a:t>2019</a:t>
            </a:r>
            <a:r>
              <a:rPr lang="en-US" dirty="0"/>
              <a:t>. 15-point drop in the weighted average FICO, down to </a:t>
            </a:r>
            <a:r>
              <a:rPr lang="en-US" b="1" dirty="0"/>
              <a:t>724</a:t>
            </a:r>
            <a:r>
              <a:rPr lang="en-US" dirty="0"/>
              <a:t>.</a:t>
            </a:r>
          </a:p>
          <a:p>
            <a:r>
              <a:rPr lang="en-US" dirty="0"/>
              <a:t>Strategic credit expansion, the funnel to capture more near-prime volume widened, specifically targeting the mid-tier risk grades (B,C,D as we will see later) where yield could be optimized and capture market share.</a:t>
            </a:r>
          </a:p>
          <a:p>
            <a:endParaRPr lang="en-US" dirty="0"/>
          </a:p>
          <a:p>
            <a:r>
              <a:rPr lang="en-US" b="1" dirty="0"/>
              <a:t>2020</a:t>
            </a:r>
            <a:r>
              <a:rPr lang="en-US" dirty="0"/>
              <a:t>. The moment the macroeconomic environment shifted due to the pandemic, </a:t>
            </a:r>
          </a:p>
          <a:p>
            <a:r>
              <a:rPr lang="en-US" dirty="0"/>
              <a:t>(Flight to quality) The weighted average FICO surged back up to </a:t>
            </a:r>
            <a:r>
              <a:rPr lang="en-US" b="1" dirty="0"/>
              <a:t>739.7</a:t>
            </a:r>
            <a:r>
              <a:rPr lang="en-US" dirty="0"/>
              <a:t>, erasing 2019 expansion. By aggressively tightening credit and shutting down riskier borrower tiers, it looks like they tried to get protection from severe default risks of the early pandemic era.</a:t>
            </a:r>
          </a:p>
          <a:p>
            <a:endParaRPr lang="en-US" dirty="0"/>
          </a:p>
        </p:txBody>
      </p:sp>
      <p:sp>
        <p:nvSpPr>
          <p:cNvPr id="4" name="Slide Number Placeholder 3"/>
          <p:cNvSpPr>
            <a:spLocks noGrp="1"/>
          </p:cNvSpPr>
          <p:nvPr>
            <p:ph type="sldNum" sz="quarter" idx="5"/>
          </p:nvPr>
        </p:nvSpPr>
        <p:spPr/>
        <p:txBody>
          <a:bodyPr/>
          <a:lstStyle/>
          <a:p>
            <a:fld id="{14BE84DB-4AAE-45B9-91CC-5E1B007624A1}" type="slidenum">
              <a:rPr lang="en-US" smtClean="0"/>
              <a:t>7</a:t>
            </a:fld>
            <a:endParaRPr lang="en-US"/>
          </a:p>
        </p:txBody>
      </p:sp>
    </p:spTree>
    <p:extLst>
      <p:ext uri="{BB962C8B-B14F-4D97-AF65-F5344CB8AC3E}">
        <p14:creationId xmlns:p14="http://schemas.microsoft.com/office/powerpoint/2010/main" val="3575740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Grade A</a:t>
            </a:r>
            <a:r>
              <a:rPr lang="en-US" dirty="0"/>
              <a:t> borrowers anchor the baseline at an attractive </a:t>
            </a:r>
            <a:r>
              <a:rPr lang="en-US" b="1" dirty="0"/>
              <a:t>8.4%</a:t>
            </a:r>
            <a:r>
              <a:rPr lang="en-US" dirty="0"/>
              <a:t>. From there, the interest rate scales smoothly and logically up to </a:t>
            </a:r>
            <a:r>
              <a:rPr lang="en-US" b="1" dirty="0"/>
              <a:t>23.1% for Grade F</a:t>
            </a:r>
            <a:r>
              <a:rPr lang="en-US" dirty="0"/>
              <a:t> borrowers.</a:t>
            </a:r>
          </a:p>
          <a:p>
            <a:endParaRPr lang="en-US" dirty="0"/>
          </a:p>
          <a:p>
            <a:r>
              <a:rPr lang="en-US" dirty="0"/>
              <a:t>The step-ups widen significantly as you go through Grades D, E, and F. By demanding an interest rate above 20% for the highest-risk tiers, they are building an aggressive yield cushion to absorb credit losses.</a:t>
            </a:r>
          </a:p>
        </p:txBody>
      </p:sp>
      <p:sp>
        <p:nvSpPr>
          <p:cNvPr id="4" name="Slide Number Placeholder 3"/>
          <p:cNvSpPr>
            <a:spLocks noGrp="1"/>
          </p:cNvSpPr>
          <p:nvPr>
            <p:ph type="sldNum" sz="quarter" idx="5"/>
          </p:nvPr>
        </p:nvSpPr>
        <p:spPr/>
        <p:txBody>
          <a:bodyPr/>
          <a:lstStyle/>
          <a:p>
            <a:fld id="{14BE84DB-4AAE-45B9-91CC-5E1B007624A1}" type="slidenum">
              <a:rPr lang="en-US" smtClean="0"/>
              <a:t>8</a:t>
            </a:fld>
            <a:endParaRPr lang="en-US"/>
          </a:p>
        </p:txBody>
      </p:sp>
    </p:spTree>
    <p:extLst>
      <p:ext uri="{BB962C8B-B14F-4D97-AF65-F5344CB8AC3E}">
        <p14:creationId xmlns:p14="http://schemas.microsoft.com/office/powerpoint/2010/main" val="3324535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(Geographic Footprint)</a:t>
            </a:r>
          </a:p>
          <a:p>
            <a:endParaRPr lang="en-US" dirty="0"/>
          </a:p>
          <a:p>
            <a:r>
              <a:rPr lang="en-US" dirty="0"/>
              <a:t>The </a:t>
            </a:r>
            <a:r>
              <a:rPr lang="en-US" b="1" dirty="0"/>
              <a:t>highest exposure is in California</a:t>
            </a:r>
            <a:r>
              <a:rPr lang="en-US" dirty="0"/>
              <a:t>, but it represents just under ten percent, coming in at </a:t>
            </a:r>
            <a:r>
              <a:rPr lang="en-US" b="1" dirty="0"/>
              <a:t>9.94%</a:t>
            </a:r>
            <a:r>
              <a:rPr lang="en-US" dirty="0"/>
              <a:t>. It is followed closely by </a:t>
            </a:r>
            <a:r>
              <a:rPr lang="en-US" b="1" dirty="0"/>
              <a:t>Texas</a:t>
            </a:r>
            <a:r>
              <a:rPr lang="en-US" dirty="0"/>
              <a:t> at </a:t>
            </a:r>
            <a:r>
              <a:rPr lang="en-US" b="1" dirty="0"/>
              <a:t>7.91%</a:t>
            </a:r>
            <a:r>
              <a:rPr lang="en-US" dirty="0"/>
              <a:t>, </a:t>
            </a:r>
            <a:r>
              <a:rPr lang="en-US" b="1" dirty="0"/>
              <a:t>Michigan</a:t>
            </a:r>
            <a:r>
              <a:rPr lang="en-US" dirty="0"/>
              <a:t> at </a:t>
            </a:r>
            <a:r>
              <a:rPr lang="en-US" b="1" dirty="0"/>
              <a:t>7.67%</a:t>
            </a:r>
            <a:r>
              <a:rPr lang="en-US" dirty="0"/>
              <a:t>, and </a:t>
            </a:r>
            <a:r>
              <a:rPr lang="en-US" b="1" dirty="0"/>
              <a:t>Florida</a:t>
            </a:r>
            <a:r>
              <a:rPr lang="en-US" dirty="0"/>
              <a:t> at </a:t>
            </a:r>
            <a:r>
              <a:rPr lang="en-US" b="1" dirty="0"/>
              <a:t>7.07%</a:t>
            </a:r>
            <a:r>
              <a:rPr lang="en-US" dirty="0"/>
              <a:t>.</a:t>
            </a:r>
          </a:p>
          <a:p>
            <a:endParaRPr lang="en-US" dirty="0"/>
          </a:p>
          <a:p>
            <a:r>
              <a:rPr lang="en-US" b="1" dirty="0"/>
              <a:t>Combined, the top five states account for roughly 37% of the total 561-million-dollar portfolio</a:t>
            </a:r>
            <a:r>
              <a:rPr lang="en-US" dirty="0"/>
              <a:t>. This distribution aligns nicely with major U.S. population centers, giving us an organic market share where transaction volumes are naturally highest.</a:t>
            </a:r>
          </a:p>
          <a:p>
            <a:endParaRPr lang="en-US" dirty="0"/>
          </a:p>
          <a:p>
            <a:r>
              <a:rPr lang="en-US" dirty="0"/>
              <a:t>From a risk perspective, this chart confirms that there are </a:t>
            </a:r>
            <a:r>
              <a:rPr lang="en-US" b="1" dirty="0"/>
              <a:t>no outsized concentration risks</a:t>
            </a:r>
            <a:r>
              <a:rPr lang="en-US" dirty="0"/>
              <a:t>. Because our capital is balanced across entirely distinct state economies, the </a:t>
            </a:r>
            <a:r>
              <a:rPr lang="en-US" b="1" dirty="0"/>
              <a:t>portfolio is highly insulated against local economic shocks or regional real estate downturns.</a:t>
            </a:r>
          </a:p>
          <a:p>
            <a:endParaRPr lang="en-US" dirty="0"/>
          </a:p>
        </p:txBody>
      </p:sp>
      <p:sp>
        <p:nvSpPr>
          <p:cNvPr id="4" name="Slide Number Placeholder 3"/>
          <p:cNvSpPr>
            <a:spLocks noGrp="1"/>
          </p:cNvSpPr>
          <p:nvPr>
            <p:ph type="sldNum" sz="quarter" idx="5"/>
          </p:nvPr>
        </p:nvSpPr>
        <p:spPr/>
        <p:txBody>
          <a:bodyPr/>
          <a:lstStyle/>
          <a:p>
            <a:fld id="{14BE84DB-4AAE-45B9-91CC-5E1B007624A1}" type="slidenum">
              <a:rPr lang="en-US" smtClean="0"/>
              <a:t>9</a:t>
            </a:fld>
            <a:endParaRPr lang="en-US"/>
          </a:p>
        </p:txBody>
      </p:sp>
    </p:spTree>
    <p:extLst>
      <p:ext uri="{BB962C8B-B14F-4D97-AF65-F5344CB8AC3E}">
        <p14:creationId xmlns:p14="http://schemas.microsoft.com/office/powerpoint/2010/main" val="1775004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Grade A </a:t>
            </a:r>
            <a:r>
              <a:rPr lang="en-US" dirty="0"/>
              <a:t>– </a:t>
            </a:r>
            <a:r>
              <a:rPr lang="en-US" b="0" dirty="0"/>
              <a:t>This mix is </a:t>
            </a:r>
            <a:r>
              <a:rPr lang="en-US" dirty="0"/>
              <a:t>essentially </a:t>
            </a:r>
            <a:r>
              <a:rPr lang="en-US" b="1" dirty="0"/>
              <a:t>balanced</a:t>
            </a:r>
            <a:r>
              <a:rPr lang="en-US" dirty="0"/>
              <a:t>. </a:t>
            </a:r>
            <a:r>
              <a:rPr lang="en-US" b="1" dirty="0"/>
              <a:t>53% lean toward 36 month term</a:t>
            </a:r>
            <a:r>
              <a:rPr lang="en-US" dirty="0"/>
              <a:t>. Borrowers have lower overall debt needs and prefer to capture lower interest rates and faster payoffs.</a:t>
            </a:r>
          </a:p>
          <a:p>
            <a:endParaRPr lang="en-US" dirty="0"/>
          </a:p>
          <a:p>
            <a:r>
              <a:rPr lang="en-US" b="1" dirty="0"/>
              <a:t>Grades B, C, D </a:t>
            </a:r>
            <a:r>
              <a:rPr lang="en-US" dirty="0"/>
              <a:t>(Core Volume Drivers) – </a:t>
            </a:r>
            <a:r>
              <a:rPr lang="en-US" b="1" dirty="0"/>
              <a:t>Progressive shift toward 60-month </a:t>
            </a:r>
            <a:r>
              <a:rPr lang="en-US" dirty="0"/>
              <a:t>term. </a:t>
            </a:r>
            <a:r>
              <a:rPr lang="en-US" b="1" dirty="0"/>
              <a:t>Peaks at Grade D, 70% </a:t>
            </a:r>
            <a:r>
              <a:rPr lang="en-US" dirty="0"/>
              <a:t>of the balance is 60-month loans.</a:t>
            </a:r>
          </a:p>
          <a:p>
            <a:endParaRPr lang="en-US" dirty="0"/>
          </a:p>
          <a:p>
            <a:r>
              <a:rPr lang="en-US" dirty="0"/>
              <a:t>This serves a powerful dual purpose for the platform:</a:t>
            </a:r>
          </a:p>
          <a:p>
            <a:r>
              <a:rPr lang="en-US" b="1" dirty="0"/>
              <a:t>Affordability:</a:t>
            </a:r>
            <a:r>
              <a:rPr lang="en-US" dirty="0"/>
              <a:t> Spreading the principal over 5 years lowers the monthly payment obligation for these mid-tier borrowers, keeping their debt-to-income ratios manageable.</a:t>
            </a:r>
          </a:p>
          <a:p>
            <a:r>
              <a:rPr lang="en-US" b="1" dirty="0"/>
              <a:t>Yield:</a:t>
            </a:r>
            <a:r>
              <a:rPr lang="en-US" dirty="0"/>
              <a:t> It allows to maximize net interest income and investor returns on mid-tier credit bands.</a:t>
            </a:r>
          </a:p>
          <a:p>
            <a:endParaRPr lang="en-US" dirty="0"/>
          </a:p>
          <a:p>
            <a:r>
              <a:rPr lang="en-US" b="1" dirty="0"/>
              <a:t>Grades E, F </a:t>
            </a:r>
            <a:r>
              <a:rPr lang="en-US" dirty="0"/>
              <a:t>– here is the most critical takeaway of this analysis: Look at what happens the moment we hit </a:t>
            </a:r>
            <a:r>
              <a:rPr lang="en-US" b="1" dirty="0"/>
              <a:t>Grades E and F</a:t>
            </a:r>
            <a:r>
              <a:rPr lang="en-US" dirty="0"/>
              <a:t>.</a:t>
            </a:r>
          </a:p>
          <a:p>
            <a:r>
              <a:rPr lang="en-US" dirty="0"/>
              <a:t>Instead of continuing the trend and stretching these high-risk borrowers into longer terms to chase higher yields or origination volumes, the curve completely reverses. For Grades E and F, there’s an aggressive pull back, concentrating over </a:t>
            </a:r>
            <a:r>
              <a:rPr lang="en-US" b="1" dirty="0"/>
              <a:t>60% of the balance into the shorter 36-month term</a:t>
            </a:r>
            <a:r>
              <a:rPr lang="en-US" dirty="0"/>
              <a:t>.</a:t>
            </a:r>
          </a:p>
          <a:p>
            <a:r>
              <a:rPr lang="en-US" dirty="0"/>
              <a:t>This is a good risk management signal. Subprime and high-risk borrowers inherently face a higher velocity of default over time. By forcing a shorter 3-year window on Grades E and F, it drastically limits the 'time at risk' and accelerate principal repayment before long-term credit degradation can set in.</a:t>
            </a:r>
          </a:p>
          <a:p>
            <a:endParaRPr lang="en-US" dirty="0"/>
          </a:p>
        </p:txBody>
      </p:sp>
      <p:sp>
        <p:nvSpPr>
          <p:cNvPr id="4" name="Slide Number Placeholder 3"/>
          <p:cNvSpPr>
            <a:spLocks noGrp="1"/>
          </p:cNvSpPr>
          <p:nvPr>
            <p:ph type="sldNum" sz="quarter" idx="5"/>
          </p:nvPr>
        </p:nvSpPr>
        <p:spPr/>
        <p:txBody>
          <a:bodyPr/>
          <a:lstStyle/>
          <a:p>
            <a:fld id="{14BE84DB-4AAE-45B9-91CC-5E1B007624A1}" type="slidenum">
              <a:rPr lang="en-US" smtClean="0"/>
              <a:t>11</a:t>
            </a:fld>
            <a:endParaRPr lang="en-US"/>
          </a:p>
        </p:txBody>
      </p:sp>
    </p:spTree>
    <p:extLst>
      <p:ext uri="{BB962C8B-B14F-4D97-AF65-F5344CB8AC3E}">
        <p14:creationId xmlns:p14="http://schemas.microsoft.com/office/powerpoint/2010/main" val="3935109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If you scan the data horizontally from 2016 to 2020</a:t>
            </a:r>
            <a:r>
              <a:rPr lang="en-US" dirty="0"/>
              <a:t>, you'll notice a consistent theme: </a:t>
            </a:r>
            <a:r>
              <a:rPr lang="en-US" b="1" dirty="0"/>
              <a:t>average monthly payments declined across every single risk grade.</a:t>
            </a:r>
            <a:endParaRPr lang="en-US" dirty="0"/>
          </a:p>
          <a:p>
            <a:r>
              <a:rPr lang="en-US" dirty="0"/>
              <a:t>For example, </a:t>
            </a:r>
            <a:r>
              <a:rPr lang="en-US" b="1" dirty="0"/>
              <a:t>look at Grade B : average payments dropped from roughly $482 down to $427.</a:t>
            </a:r>
          </a:p>
          <a:p>
            <a:r>
              <a:rPr lang="en-US" dirty="0"/>
              <a:t>This drop doesn’t look accidental. It directly correlates with the term mix adjustment we reviewed earlier. By strategically leveraging 60-month terms for mid-tier borrowers, </a:t>
            </a:r>
            <a:r>
              <a:rPr lang="en-US" b="1" dirty="0"/>
              <a:t>their monthly financial obligations are lowered. This keeps their debt-to-income ratios manageable and builds a buffer against repayment stress, directly aiding portfolio stability over time</a:t>
            </a:r>
          </a:p>
          <a:p>
            <a:endParaRPr lang="en-US" dirty="0"/>
          </a:p>
          <a:p>
            <a:r>
              <a:rPr lang="en-US" dirty="0"/>
              <a:t>Secondly, here is the clear payment hierarchy, which highlights disciplined risk-based credit sizing.</a:t>
            </a:r>
          </a:p>
          <a:p>
            <a:r>
              <a:rPr lang="en-US" dirty="0"/>
              <a:t>Notice how prime and near-prime tiers, </a:t>
            </a:r>
            <a:r>
              <a:rPr lang="en-US" b="1" dirty="0"/>
              <a:t>Grades A, B, and C, </a:t>
            </a:r>
            <a:r>
              <a:rPr lang="en-US" dirty="0"/>
              <a:t>consistently sustain higher monthly payments, peaking around the $450 to $480 range. Because these borrowers present a lower probability of default, they are offered larger loan sizes, which naturally result in higher monthly payment sizes.</a:t>
            </a:r>
          </a:p>
          <a:p>
            <a:endParaRPr lang="en-US" dirty="0"/>
          </a:p>
          <a:p>
            <a:r>
              <a:rPr lang="en-US" dirty="0"/>
              <a:t>Conversely, look at </a:t>
            </a:r>
            <a:r>
              <a:rPr lang="en-US" b="1" dirty="0"/>
              <a:t>Grades E and F</a:t>
            </a:r>
            <a:r>
              <a:rPr lang="en-US" dirty="0"/>
              <a:t>. Their monthly payments are heavily suppressed, sitting down in the $210 to $280 range. Remember, we already know that these two risk tiers are heavily funneled into shorter 36-month terms. When you couple a shorter term with a much lower monthly payment, it tells us one thing clearly: </a:t>
            </a:r>
            <a:r>
              <a:rPr lang="en-US" b="1" dirty="0"/>
              <a:t>the underwriting model restricts the </a:t>
            </a:r>
            <a:r>
              <a:rPr lang="en-US" b="1" i="0" dirty="0"/>
              <a:t>total loan amount </a:t>
            </a:r>
            <a:r>
              <a:rPr lang="en-US" b="1" dirty="0"/>
              <a:t>for high-risk borrowers</a:t>
            </a:r>
            <a:r>
              <a:rPr lang="en-US" dirty="0"/>
              <a:t>. The loss exposure per loan is being capped.</a:t>
            </a:r>
          </a:p>
        </p:txBody>
      </p:sp>
      <p:sp>
        <p:nvSpPr>
          <p:cNvPr id="4" name="Slide Number Placeholder 3"/>
          <p:cNvSpPr>
            <a:spLocks noGrp="1"/>
          </p:cNvSpPr>
          <p:nvPr>
            <p:ph type="sldNum" sz="quarter" idx="5"/>
          </p:nvPr>
        </p:nvSpPr>
        <p:spPr/>
        <p:txBody>
          <a:bodyPr/>
          <a:lstStyle/>
          <a:p>
            <a:fld id="{14BE84DB-4AAE-45B9-91CC-5E1B007624A1}" type="slidenum">
              <a:rPr lang="en-US" smtClean="0"/>
              <a:t>12</a:t>
            </a:fld>
            <a:endParaRPr lang="en-US"/>
          </a:p>
        </p:txBody>
      </p:sp>
    </p:spTree>
    <p:extLst>
      <p:ext uri="{BB962C8B-B14F-4D97-AF65-F5344CB8AC3E}">
        <p14:creationId xmlns:p14="http://schemas.microsoft.com/office/powerpoint/2010/main" val="2722701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Loan DTI, from my understanding, loads on the new obligation to the borrower’s pre-loan DTI (borrower’s historical balance sheet) revealing their actual financial reality the moment the loan is funded. Measures the remaining household buffer after accounting for the new debt obligation.</a:t>
            </a:r>
          </a:p>
          <a:p>
            <a:endParaRPr lang="en-US" dirty="0"/>
          </a:p>
          <a:p>
            <a:r>
              <a:rPr lang="en-US" dirty="0"/>
              <a:t>The WA Post Loan DTI weights each borrower’s new DTI by their </a:t>
            </a:r>
            <a:r>
              <a:rPr lang="en-US" b="1" dirty="0"/>
              <a:t>Original Balance</a:t>
            </a:r>
            <a:r>
              <a:rPr lang="en-US" dirty="0"/>
              <a:t>. This ensures that larger loans have a proportionally larger impact on the metric.</a:t>
            </a:r>
          </a:p>
          <a:p>
            <a:endParaRPr lang="en-US" dirty="0"/>
          </a:p>
          <a:p>
            <a:r>
              <a:rPr lang="en-US" dirty="0"/>
              <a:t>If you look at the chart, the first thing that jumps out is the absolute value of these figures. Across all three categories, whether the borrowers have a mortgage, own their home outright, or rent, the weighted average post-loan DTI hovers tightly between </a:t>
            </a:r>
            <a:r>
              <a:rPr lang="en-US" b="1" dirty="0"/>
              <a:t>19.3% and 20.0%</a:t>
            </a:r>
            <a:r>
              <a:rPr lang="en-US" dirty="0"/>
              <a:t>.</a:t>
            </a:r>
          </a:p>
          <a:p>
            <a:r>
              <a:rPr lang="en-US" dirty="0"/>
              <a:t>From what I understand and to put this into perspective for the broader consumer credit landscape, any DTI below 36% is traditionally viewed as highly secure</a:t>
            </a:r>
          </a:p>
          <a:p>
            <a:endParaRPr lang="en-US" dirty="0"/>
          </a:p>
          <a:p>
            <a:r>
              <a:rPr lang="en-US" dirty="0"/>
              <a:t>The results show the portfolio is anchored by high-surplus borrowers who retain significant financial breathing room to absorb unexpected macroeconomic shocks.</a:t>
            </a:r>
          </a:p>
        </p:txBody>
      </p:sp>
      <p:sp>
        <p:nvSpPr>
          <p:cNvPr id="4" name="Slide Number Placeholder 3"/>
          <p:cNvSpPr>
            <a:spLocks noGrp="1"/>
          </p:cNvSpPr>
          <p:nvPr>
            <p:ph type="sldNum" sz="quarter" idx="5"/>
          </p:nvPr>
        </p:nvSpPr>
        <p:spPr/>
        <p:txBody>
          <a:bodyPr/>
          <a:lstStyle/>
          <a:p>
            <a:fld id="{14BE84DB-4AAE-45B9-91CC-5E1B007624A1}" type="slidenum">
              <a:rPr lang="en-US" smtClean="0"/>
              <a:t>13</a:t>
            </a:fld>
            <a:endParaRPr lang="en-US"/>
          </a:p>
        </p:txBody>
      </p:sp>
    </p:spTree>
    <p:extLst>
      <p:ext uri="{BB962C8B-B14F-4D97-AF65-F5344CB8AC3E}">
        <p14:creationId xmlns:p14="http://schemas.microsoft.com/office/powerpoint/2010/main" val="8272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BE84DB-4AAE-45B9-91CC-5E1B007624A1}" type="slidenum">
              <a:rPr lang="en-US" smtClean="0"/>
              <a:t>15</a:t>
            </a:fld>
            <a:endParaRPr lang="en-US"/>
          </a:p>
        </p:txBody>
      </p:sp>
    </p:spTree>
    <p:extLst>
      <p:ext uri="{BB962C8B-B14F-4D97-AF65-F5344CB8AC3E}">
        <p14:creationId xmlns:p14="http://schemas.microsoft.com/office/powerpoint/2010/main" val="2791804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When evaluating a portfolio of loans, you are essentially tracking a </a:t>
                </a:r>
                <a:r>
                  <a:rPr lang="en-US" b="1" dirty="0"/>
                  <a:t>race against time</a:t>
                </a:r>
                <a:r>
                  <a:rPr lang="en-US" dirty="0"/>
                  <a:t> between </a:t>
                </a:r>
                <a:r>
                  <a:rPr lang="en-US" b="1" dirty="0"/>
                  <a:t>two competing factors that reduce the outstanding balance of a loan pool</a:t>
                </a:r>
                <a:r>
                  <a:rPr lang="en-US" dirty="0"/>
                  <a:t>:</a:t>
                </a:r>
              </a:p>
              <a:p>
                <a:r>
                  <a:rPr lang="en-US" b="1" dirty="0"/>
                  <a:t>1. Prepayments (The "Good/Neutral" Exit):</a:t>
                </a:r>
                <a:r>
                  <a:rPr lang="en-US" dirty="0"/>
                  <a:t> This is when a borrower pays off their loan faster than scheduled. They might pay a little extra each month, make a large lump-sum payment, or refinance the entire loan to get a better interest rate.</a:t>
                </a:r>
              </a:p>
              <a:p>
                <a:r>
                  <a:rPr lang="en-US" b="1" dirty="0"/>
                  <a:t>2. Defaults (The "Bad" Exit):</a:t>
                </a:r>
                <a:r>
                  <a:rPr lang="en-US" dirty="0"/>
                  <a:t> This is when a borrower stops making payments entirely, and the platform writes the loan off as a loss (a charge-off).</a:t>
                </a:r>
              </a:p>
              <a:p>
                <a:endParaRPr lang="en-US" dirty="0"/>
              </a:p>
              <a:p>
                <a:r>
                  <a:rPr lang="en-US" sz="1200" kern="1200" dirty="0">
                    <a:solidFill>
                      <a:schemeClr val="tx1"/>
                    </a:solidFill>
                    <a:effectLst/>
                    <a:latin typeface="+mn-lt"/>
                    <a:ea typeface="+mn-ea"/>
                    <a:cs typeface="+mn-cs"/>
                  </a:rPr>
                  <a:t>The vintage tracks loans funded at Month 0 and watches their behavior over time as they age. This timeline is measured in </a:t>
                </a:r>
                <a:r>
                  <a:rPr lang="en-US" sz="1200" b="1" kern="1200" dirty="0">
                    <a:solidFill>
                      <a:schemeClr val="tx1"/>
                    </a:solidFill>
                    <a:effectLst/>
                    <a:latin typeface="+mn-lt"/>
                    <a:ea typeface="+mn-ea"/>
                    <a:cs typeface="+mn-cs"/>
                  </a:rPr>
                  <a:t>Months on Book (MOB)</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The Math:</a:t>
                </a:r>
                <a:r>
                  <a:rPr lang="en-US" sz="1200" kern="1200" dirty="0">
                    <a:solidFill>
                      <a:schemeClr val="tx1"/>
                    </a:solidFill>
                    <a:effectLst/>
                    <a:latin typeface="+mn-lt"/>
                    <a:ea typeface="+mn-ea"/>
                    <a:cs typeface="+mn-cs"/>
                  </a:rPr>
                  <a:t> To make sure the metrics are comparable over time, the calculation divides the dollar amount of defaults or prepayments in a given month by the </a:t>
                </a:r>
                <a:r>
                  <a:rPr lang="en-US" sz="1200" b="1" kern="1200" dirty="0">
                    <a:solidFill>
                      <a:schemeClr val="tx1"/>
                    </a:solidFill>
                    <a:effectLst/>
                    <a:latin typeface="+mn-lt"/>
                    <a:ea typeface="+mn-ea"/>
                    <a:cs typeface="+mn-cs"/>
                  </a:rPr>
                  <a:t>original balance</a:t>
                </a:r>
                <a:r>
                  <a:rPr lang="en-US" sz="1200" kern="1200" dirty="0">
                    <a:solidFill>
                      <a:schemeClr val="tx1"/>
                    </a:solidFill>
                    <a:effectLst/>
                    <a:latin typeface="+mn-lt"/>
                    <a:ea typeface="+mn-ea"/>
                    <a:cs typeface="+mn-cs"/>
                  </a:rPr>
                  <a:t> of the pool when it started ($543.3M).</a:t>
                </a:r>
              </a:p>
              <a:p>
                <a:r>
                  <a:rPr lang="en-US" sz="1200" b="1" kern="1200" dirty="0">
                    <a:solidFill>
                      <a:schemeClr val="tx1"/>
                    </a:solidFill>
                    <a:effectLst/>
                    <a:latin typeface="+mn-lt"/>
                    <a:ea typeface="+mn-ea"/>
                    <a:cs typeface="+mn-cs"/>
                  </a:rPr>
                  <a:t>The Scale:</a:t>
                </a:r>
                <a:r>
                  <a:rPr lang="en-US" sz="1200" kern="1200" dirty="0">
                    <a:solidFill>
                      <a:schemeClr val="tx1"/>
                    </a:solidFill>
                    <a:effectLst/>
                    <a:latin typeface="+mn-lt"/>
                    <a:ea typeface="+mn-ea"/>
                    <a:cs typeface="+mn-cs"/>
                  </a:rPr>
                  <a:t> Because prepayments involve entire loan payoffs, they represent whole percentage points of the pool (e.g., </a:t>
                </a:r>
                <a14:m>
                  <m:oMath xmlns:m="http://schemas.openxmlformats.org/officeDocument/2006/math">
                    <m:r>
                      <a:rPr lang="en-US" sz="1200" kern="1200" smtClean="0">
                        <a:solidFill>
                          <a:schemeClr val="tx1"/>
                        </a:solidFill>
                        <a:latin typeface="+mn-lt"/>
                        <a:ea typeface="+mn-ea"/>
                        <a:cs typeface="+mn-cs"/>
                      </a:rPr>
                      <m:t>1.6</m:t>
                    </m:r>
                    <m:r>
                      <a:rPr lang="en-US" sz="1200" i="0" kern="1200">
                        <a:solidFill>
                          <a:schemeClr val="tx1"/>
                        </a:solidFill>
                        <a:latin typeface="+mn-lt"/>
                        <a:ea typeface="+mn-ea"/>
                        <a:cs typeface="+mn-cs"/>
                      </a:rPr>
                      <m:t>%</m:t>
                    </m:r>
                  </m:oMath>
                </a14:m>
                <a:r>
                  <a:rPr lang="en-US" sz="1200" kern="1200" dirty="0">
                    <a:solidFill>
                      <a:schemeClr val="tx1"/>
                    </a:solidFill>
                    <a:effectLst/>
                    <a:latin typeface="+mn-lt"/>
                    <a:ea typeface="+mn-ea"/>
                    <a:cs typeface="+mn-cs"/>
                  </a:rPr>
                  <a:t>or </a:t>
                </a:r>
                <a14:m>
                  <m:oMath xmlns:m="http://schemas.openxmlformats.org/officeDocument/2006/math">
                    <m:r>
                      <a:rPr lang="en-US" sz="1200" kern="1200" smtClean="0">
                        <a:solidFill>
                          <a:schemeClr val="tx1"/>
                        </a:solidFill>
                        <a:latin typeface="+mn-lt"/>
                        <a:ea typeface="+mn-ea"/>
                        <a:cs typeface="+mn-cs"/>
                      </a:rPr>
                      <m:t>2.1</m:t>
                    </m:r>
                    <m:r>
                      <a:rPr lang="en-US" sz="1200" i="0" kern="1200">
                        <a:solidFill>
                          <a:schemeClr val="tx1"/>
                        </a:solidFill>
                        <a:latin typeface="+mn-lt"/>
                        <a:ea typeface="+mn-ea"/>
                        <a:cs typeface="+mn-cs"/>
                      </a:rPr>
                      <m:t>%</m:t>
                    </m:r>
                  </m:oMath>
                </a14:m>
                <a:r>
                  <a:rPr lang="en-US" sz="1200" kern="1200" dirty="0">
                    <a:solidFill>
                      <a:schemeClr val="tx1"/>
                    </a:solidFill>
                    <a:effectLst/>
                    <a:latin typeface="+mn-lt"/>
                    <a:ea typeface="+mn-ea"/>
                    <a:cs typeface="+mn-cs"/>
                  </a:rPr>
                  <a:t>). Defaults happen on a granular, loan-by-loan basis early on, which is why they appear as tiny fractions of a percent (</a:t>
                </a:r>
                <a14:m>
                  <m:oMath xmlns:m="http://schemas.openxmlformats.org/officeDocument/2006/math">
                    <m:r>
                      <a:rPr lang="en-US" sz="1200" kern="1200" smtClean="0">
                        <a:solidFill>
                          <a:schemeClr val="tx1"/>
                        </a:solidFill>
                        <a:latin typeface="+mn-lt"/>
                        <a:ea typeface="+mn-ea"/>
                        <a:cs typeface="+mn-cs"/>
                      </a:rPr>
                      <m:t>0.003</m:t>
                    </m:r>
                    <m:r>
                      <a:rPr lang="en-US" sz="1200" i="0" kern="1200">
                        <a:solidFill>
                          <a:schemeClr val="tx1"/>
                        </a:solidFill>
                        <a:latin typeface="+mn-lt"/>
                        <a:ea typeface="+mn-ea"/>
                        <a:cs typeface="+mn-cs"/>
                      </a:rPr>
                      <m:t>%</m:t>
                    </m:r>
                  </m:oMath>
                </a14:m>
                <a:r>
                  <a:rPr lang="en-US" sz="1200" kern="1200" dirty="0">
                    <a:solidFill>
                      <a:schemeClr val="tx1"/>
                    </a:solidFill>
                    <a:effectLst/>
                    <a:latin typeface="+mn-lt"/>
                    <a:ea typeface="+mn-ea"/>
                    <a:cs typeface="+mn-cs"/>
                  </a:rPr>
                  <a:t> to </a:t>
                </a:r>
                <a14:m>
                  <m:oMath xmlns:m="http://schemas.openxmlformats.org/officeDocument/2006/math">
                    <m:r>
                      <a:rPr lang="en-US" sz="1200" kern="1200" smtClean="0">
                        <a:solidFill>
                          <a:schemeClr val="tx1"/>
                        </a:solidFill>
                        <a:latin typeface="+mn-lt"/>
                        <a:ea typeface="+mn-ea"/>
                        <a:cs typeface="+mn-cs"/>
                      </a:rPr>
                      <m:t>0.011</m:t>
                    </m:r>
                    <m:r>
                      <a:rPr lang="en-US" sz="1200" i="0" kern="1200">
                        <a:solidFill>
                          <a:schemeClr val="tx1"/>
                        </a:solidFill>
                        <a:latin typeface="+mn-lt"/>
                        <a:ea typeface="+mn-ea"/>
                        <a:cs typeface="+mn-cs"/>
                      </a:rPr>
                      <m:t>%</m:t>
                    </m:r>
                  </m:oMath>
                </a14:m>
                <a:r>
                  <a:rPr lang="en-US" sz="1200" kern="1200" dirty="0">
                    <a:solidFill>
                      <a:schemeClr val="tx1"/>
                    </a:solidFill>
                    <a:effectLst/>
                    <a:latin typeface="+mn-lt"/>
                    <a:ea typeface="+mn-ea"/>
                    <a:cs typeface="+mn-cs"/>
                  </a:rPr>
                  <a:t>).</a:t>
                </a:r>
              </a:p>
              <a:p>
                <a:endParaRPr lang="en-US" dirty="0"/>
              </a:p>
              <a:p>
                <a:r>
                  <a:rPr lang="en-US" b="1" dirty="0"/>
                  <a:t>&gt;This chart tracks the performance velocity of the loan pools from the exact month they are funded.</a:t>
                </a:r>
              </a:p>
              <a:p>
                <a:r>
                  <a:rPr lang="en-US" dirty="0"/>
                  <a:t>The visual contrast here tells a very healthy story about the front-end credit quality and portfolio liquidity.</a:t>
                </a:r>
              </a:p>
              <a:p>
                <a:r>
                  <a:rPr lang="en-US" b="1" dirty="0"/>
                  <a:t>First, look at the orange line representing Prepayments</a:t>
                </a:r>
                <a:r>
                  <a:rPr lang="en-US" dirty="0"/>
                  <a:t>. We see an immediate, </a:t>
                </a:r>
                <a:r>
                  <a:rPr lang="en-US" b="1" dirty="0"/>
                  <a:t>aggressive spike right out of the gate. By Month 4 on book, monthly prepayments cross</a:t>
                </a:r>
                <a:r>
                  <a:rPr lang="en-US" dirty="0"/>
                  <a:t> </a:t>
                </a:r>
                <a:r>
                  <a:rPr lang="en-US" b="1" dirty="0"/>
                  <a:t>2.1% of our original pool balance</a:t>
                </a:r>
                <a:r>
                  <a:rPr lang="en-US" dirty="0"/>
                  <a:t>. This means borrowers are rapidly paying extra principal or refinancing early. For investors, this fast velocity of returned capital acts as an organic de-risking mechanism, shielding the initial investment from long-term exposure.</a:t>
                </a:r>
              </a:p>
              <a:p>
                <a:endParaRPr lang="en-US" dirty="0"/>
              </a:p>
              <a:p>
                <a:r>
                  <a:rPr lang="en-US" dirty="0"/>
                  <a:t>Now, </a:t>
                </a:r>
                <a:r>
                  <a:rPr lang="en-US" b="1" dirty="0"/>
                  <a:t>look at the blue line along the bottom representing Defaults</a:t>
                </a:r>
                <a:r>
                  <a:rPr lang="en-US" dirty="0"/>
                  <a:t>. For the first four months, defaults are essentially flat, hovering near zero. In consumer lending, credit degradation takes time to cycle through delinquency buckets, so a lag is normal. However, keeping this line completely suppressed at the start confirms that our front-end fraud detection and underwriting criteria are exceptionally tight. We are not experiencing early toxic defaults.</a:t>
                </a:r>
              </a:p>
              <a:p>
                <a:endParaRPr lang="en-US" dirty="0"/>
              </a:p>
            </p:txBody>
          </p:sp>
        </mc:Choice>
        <mc:Fallback>
          <p:sp>
            <p:nvSpPr>
              <p:cNvPr id="3" name="Notes Placeholder 2"/>
              <p:cNvSpPr>
                <a:spLocks noGrp="1"/>
              </p:cNvSpPr>
              <p:nvPr>
                <p:ph type="body" idx="1"/>
              </p:nvPr>
            </p:nvSpPr>
            <p:spPr/>
            <p:txBody>
              <a:bodyPr/>
              <a:lstStyle/>
              <a:p>
                <a:r>
                  <a:rPr lang="en-US" dirty="0"/>
                  <a:t>When evaluating a portfolio of loans, you are essentially tracking a </a:t>
                </a:r>
                <a:r>
                  <a:rPr lang="en-US" b="1" dirty="0"/>
                  <a:t>race against time</a:t>
                </a:r>
                <a:r>
                  <a:rPr lang="en-US" dirty="0"/>
                  <a:t> between </a:t>
                </a:r>
                <a:r>
                  <a:rPr lang="en-US" b="1" dirty="0"/>
                  <a:t>two competing factors that reduce the outstanding balance of a loan pool</a:t>
                </a:r>
                <a:r>
                  <a:rPr lang="en-US" dirty="0"/>
                  <a:t>:</a:t>
                </a:r>
              </a:p>
              <a:p>
                <a:r>
                  <a:rPr lang="en-US" b="1" dirty="0"/>
                  <a:t>1. Prepayments (The "Good/Neutral" Exit):</a:t>
                </a:r>
                <a:r>
                  <a:rPr lang="en-US" dirty="0"/>
                  <a:t> This is when a borrower pays off their loan faster than scheduled. They might pay a little extra each month, make a large lump-sum payment, or refinance the entire loan to get a better interest rate.</a:t>
                </a:r>
              </a:p>
              <a:p>
                <a:r>
                  <a:rPr lang="en-US" b="1" dirty="0"/>
                  <a:t>2. Defaults (The "Bad" Exit):</a:t>
                </a:r>
                <a:r>
                  <a:rPr lang="en-US" dirty="0"/>
                  <a:t> This is when a borrower stops making payments entirely, and the platform writes the loan off as a loss (a charge-off).</a:t>
                </a:r>
              </a:p>
              <a:p>
                <a:endParaRPr lang="en-US" dirty="0"/>
              </a:p>
              <a:p>
                <a:r>
                  <a:rPr lang="en-US" sz="1200" kern="1200" dirty="0">
                    <a:solidFill>
                      <a:schemeClr val="tx1"/>
                    </a:solidFill>
                    <a:effectLst/>
                    <a:latin typeface="+mn-lt"/>
                    <a:ea typeface="+mn-ea"/>
                    <a:cs typeface="+mn-cs"/>
                  </a:rPr>
                  <a:t>The vintage tracks loans funded at Month 0 and watches their behavior over time as they age. This timeline is measured in </a:t>
                </a:r>
                <a:r>
                  <a:rPr lang="en-US" sz="1200" b="1" kern="1200" dirty="0">
                    <a:solidFill>
                      <a:schemeClr val="tx1"/>
                    </a:solidFill>
                    <a:effectLst/>
                    <a:latin typeface="+mn-lt"/>
                    <a:ea typeface="+mn-ea"/>
                    <a:cs typeface="+mn-cs"/>
                  </a:rPr>
                  <a:t>Months on Book (MOB)</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The Math:</a:t>
                </a:r>
                <a:r>
                  <a:rPr lang="en-US" sz="1200" kern="1200" dirty="0">
                    <a:solidFill>
                      <a:schemeClr val="tx1"/>
                    </a:solidFill>
                    <a:effectLst/>
                    <a:latin typeface="+mn-lt"/>
                    <a:ea typeface="+mn-ea"/>
                    <a:cs typeface="+mn-cs"/>
                  </a:rPr>
                  <a:t> To make sure the metrics are comparable over time, the calculation divides the dollar amount of defaults or prepayments in a given month by the </a:t>
                </a:r>
                <a:r>
                  <a:rPr lang="en-US" sz="1200" b="1" kern="1200" dirty="0">
                    <a:solidFill>
                      <a:schemeClr val="tx1"/>
                    </a:solidFill>
                    <a:effectLst/>
                    <a:latin typeface="+mn-lt"/>
                    <a:ea typeface="+mn-ea"/>
                    <a:cs typeface="+mn-cs"/>
                  </a:rPr>
                  <a:t>original balance</a:t>
                </a:r>
                <a:r>
                  <a:rPr lang="en-US" sz="1200" kern="1200" dirty="0">
                    <a:solidFill>
                      <a:schemeClr val="tx1"/>
                    </a:solidFill>
                    <a:effectLst/>
                    <a:latin typeface="+mn-lt"/>
                    <a:ea typeface="+mn-ea"/>
                    <a:cs typeface="+mn-cs"/>
                  </a:rPr>
                  <a:t> of the pool when it started ($543.3M).</a:t>
                </a:r>
              </a:p>
              <a:p>
                <a:r>
                  <a:rPr lang="en-US" sz="1200" b="1" kern="1200" dirty="0">
                    <a:solidFill>
                      <a:schemeClr val="tx1"/>
                    </a:solidFill>
                    <a:effectLst/>
                    <a:latin typeface="+mn-lt"/>
                    <a:ea typeface="+mn-ea"/>
                    <a:cs typeface="+mn-cs"/>
                  </a:rPr>
                  <a:t>The Scale:</a:t>
                </a:r>
                <a:r>
                  <a:rPr lang="en-US" sz="1200" kern="1200" dirty="0">
                    <a:solidFill>
                      <a:schemeClr val="tx1"/>
                    </a:solidFill>
                    <a:effectLst/>
                    <a:latin typeface="+mn-lt"/>
                    <a:ea typeface="+mn-ea"/>
                    <a:cs typeface="+mn-cs"/>
                  </a:rPr>
                  <a:t> Because prepayments involve entire loan payoffs, they represent whole percentage points of the pool (e.g., </a:t>
                </a:r>
                <a:r>
                  <a:rPr lang="en-US" sz="1200" i="0" kern="1200">
                    <a:solidFill>
                      <a:schemeClr val="tx1"/>
                    </a:solidFill>
                    <a:latin typeface="+mn-lt"/>
                    <a:ea typeface="+mn-ea"/>
                    <a:cs typeface="+mn-cs"/>
                  </a:rPr>
                  <a:t>1.6%</a:t>
                </a:r>
                <a:r>
                  <a:rPr lang="en-US" sz="1200" kern="1200" dirty="0">
                    <a:solidFill>
                      <a:schemeClr val="tx1"/>
                    </a:solidFill>
                    <a:effectLst/>
                    <a:latin typeface="+mn-lt"/>
                    <a:ea typeface="+mn-ea"/>
                    <a:cs typeface="+mn-cs"/>
                  </a:rPr>
                  <a:t>or </a:t>
                </a:r>
                <a:r>
                  <a:rPr lang="en-US" sz="1200" i="0" kern="1200">
                    <a:solidFill>
                      <a:schemeClr val="tx1"/>
                    </a:solidFill>
                    <a:latin typeface="+mn-lt"/>
                    <a:ea typeface="+mn-ea"/>
                    <a:cs typeface="+mn-cs"/>
                  </a:rPr>
                  <a:t>2.1%</a:t>
                </a:r>
                <a:r>
                  <a:rPr lang="en-US" sz="1200" kern="1200" dirty="0">
                    <a:solidFill>
                      <a:schemeClr val="tx1"/>
                    </a:solidFill>
                    <a:effectLst/>
                    <a:latin typeface="+mn-lt"/>
                    <a:ea typeface="+mn-ea"/>
                    <a:cs typeface="+mn-cs"/>
                  </a:rPr>
                  <a:t>). Defaults happen on a granular, loan-by-loan basis early on, which is why they appear as tiny fractions of a percent (</a:t>
                </a:r>
                <a:r>
                  <a:rPr lang="en-US" sz="1200" i="0" kern="1200">
                    <a:solidFill>
                      <a:schemeClr val="tx1"/>
                    </a:solidFill>
                    <a:latin typeface="+mn-lt"/>
                    <a:ea typeface="+mn-ea"/>
                    <a:cs typeface="+mn-cs"/>
                  </a:rPr>
                  <a:t>0.003%</a:t>
                </a:r>
                <a:r>
                  <a:rPr lang="en-US" sz="1200" kern="1200" dirty="0">
                    <a:solidFill>
                      <a:schemeClr val="tx1"/>
                    </a:solidFill>
                    <a:effectLst/>
                    <a:latin typeface="+mn-lt"/>
                    <a:ea typeface="+mn-ea"/>
                    <a:cs typeface="+mn-cs"/>
                  </a:rPr>
                  <a:t> to </a:t>
                </a:r>
                <a:r>
                  <a:rPr lang="en-US" sz="1200" i="0" kern="1200">
                    <a:solidFill>
                      <a:schemeClr val="tx1"/>
                    </a:solidFill>
                    <a:latin typeface="+mn-lt"/>
                    <a:ea typeface="+mn-ea"/>
                    <a:cs typeface="+mn-cs"/>
                  </a:rPr>
                  <a:t>0.011%</a:t>
                </a:r>
                <a:r>
                  <a:rPr lang="en-US" sz="1200" kern="1200" dirty="0">
                    <a:solidFill>
                      <a:schemeClr val="tx1"/>
                    </a:solidFill>
                    <a:effectLst/>
                    <a:latin typeface="+mn-lt"/>
                    <a:ea typeface="+mn-ea"/>
                    <a:cs typeface="+mn-cs"/>
                  </a:rPr>
                  <a:t>).</a:t>
                </a:r>
              </a:p>
              <a:p>
                <a:endParaRPr lang="en-US" dirty="0"/>
              </a:p>
              <a:p>
                <a:r>
                  <a:rPr lang="en-US" b="1" dirty="0"/>
                  <a:t>&gt;This chart tracks the performance velocity of the loan pools from the exact month they are funded.</a:t>
                </a:r>
              </a:p>
              <a:p>
                <a:r>
                  <a:rPr lang="en-US" dirty="0"/>
                  <a:t>The visual contrast here tells a very healthy story about the front-end credit quality and portfolio liquidity.</a:t>
                </a:r>
              </a:p>
              <a:p>
                <a:r>
                  <a:rPr lang="en-US" b="1" dirty="0"/>
                  <a:t>First, look at the orange line representing Prepayments</a:t>
                </a:r>
                <a:r>
                  <a:rPr lang="en-US" dirty="0"/>
                  <a:t>. We see an immediate, </a:t>
                </a:r>
                <a:r>
                  <a:rPr lang="en-US" b="1" dirty="0"/>
                  <a:t>aggressive spike right out of the gate. By Month 4 on book, monthly prepayments cross</a:t>
                </a:r>
                <a:r>
                  <a:rPr lang="en-US" dirty="0"/>
                  <a:t> </a:t>
                </a:r>
                <a:r>
                  <a:rPr lang="en-US" b="1" dirty="0"/>
                  <a:t>2.1% of our original pool balance</a:t>
                </a:r>
                <a:r>
                  <a:rPr lang="en-US" dirty="0"/>
                  <a:t>. This means borrowers are rapidly paying extra principal or refinancing early. For investors, this fast velocity of returned capital acts as an organic de-risking mechanism, shielding the initial investment from long-term exposure.</a:t>
                </a:r>
              </a:p>
              <a:p>
                <a:endParaRPr lang="en-US" dirty="0"/>
              </a:p>
              <a:p>
                <a:r>
                  <a:rPr lang="en-US" dirty="0"/>
                  <a:t>Now, </a:t>
                </a:r>
                <a:r>
                  <a:rPr lang="en-US" b="1" dirty="0"/>
                  <a:t>look at the blue line along the bottom representing Defaults</a:t>
                </a:r>
                <a:r>
                  <a:rPr lang="en-US" dirty="0"/>
                  <a:t>. For the first four months, defaults are essentially flat, hovering near zero. In consumer lending, credit degradation takes time to cycle through delinquency buckets, so a lag is normal. However, keeping this line completely suppressed at the start confirms that our front-end fraud detection and underwriting criteria are exceptionally tight. We are not experiencing early toxic defaults.</a:t>
                </a:r>
              </a:p>
              <a:p>
                <a:endParaRPr lang="en-US" dirty="0"/>
              </a:p>
            </p:txBody>
          </p:sp>
        </mc:Fallback>
      </mc:AlternateContent>
      <p:sp>
        <p:nvSpPr>
          <p:cNvPr id="4" name="Slide Number Placeholder 3"/>
          <p:cNvSpPr>
            <a:spLocks noGrp="1"/>
          </p:cNvSpPr>
          <p:nvPr>
            <p:ph type="sldNum" sz="quarter" idx="5"/>
          </p:nvPr>
        </p:nvSpPr>
        <p:spPr/>
        <p:txBody>
          <a:bodyPr/>
          <a:lstStyle/>
          <a:p>
            <a:fld id="{14BE84DB-4AAE-45B9-91CC-5E1B007624A1}" type="slidenum">
              <a:rPr lang="en-US" smtClean="0"/>
              <a:t>16</a:t>
            </a:fld>
            <a:endParaRPr lang="en-US"/>
          </a:p>
        </p:txBody>
      </p:sp>
    </p:spTree>
    <p:extLst>
      <p:ext uri="{BB962C8B-B14F-4D97-AF65-F5344CB8AC3E}">
        <p14:creationId xmlns:p14="http://schemas.microsoft.com/office/powerpoint/2010/main" val="1627651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While </a:t>
                </a:r>
                <a:r>
                  <a:rPr lang="en-US" b="1" dirty="0"/>
                  <a:t>Monthly Rates</a:t>
                </a:r>
                <a:r>
                  <a:rPr lang="en-US" dirty="0"/>
                  <a:t> show you what happens in a single isolated month, </a:t>
                </a:r>
                <a:r>
                  <a:rPr lang="en-US" b="1" dirty="0"/>
                  <a:t>Cumulative Rates</a:t>
                </a:r>
                <a:r>
                  <a:rPr lang="en-US" dirty="0"/>
                  <a:t> keep a running total over time. They show the </a:t>
                </a:r>
                <a:r>
                  <a:rPr lang="en-US" i="1" dirty="0"/>
                  <a:t>total percentage</a:t>
                </a:r>
                <a:r>
                  <a:rPr lang="en-US" dirty="0"/>
                  <a:t> of the original loan pool that has exited via default or prepayment from Day 1 up to the current month.</a:t>
                </a:r>
              </a:p>
              <a:p>
                <a:r>
                  <a:rPr lang="en-US" dirty="0"/>
                  <a:t>Think of it like a bucket filling up:</a:t>
                </a:r>
              </a:p>
              <a:p>
                <a:r>
                  <a:rPr lang="en-US" b="1" dirty="0"/>
                  <a:t>Monthly Rate:</a:t>
                </a:r>
                <a:r>
                  <a:rPr lang="en-US" dirty="0"/>
                  <a:t> How much water was added to the bucket </a:t>
                </a:r>
                <a:r>
                  <a:rPr lang="en-US" i="1" dirty="0"/>
                  <a:t>this month</a:t>
                </a:r>
                <a:r>
                  <a:rPr lang="en-US" dirty="0"/>
                  <a:t>.</a:t>
                </a:r>
              </a:p>
              <a:p>
                <a:r>
                  <a:rPr lang="en-US" b="1" dirty="0"/>
                  <a:t>Cumulative Rate:</a:t>
                </a:r>
                <a:r>
                  <a:rPr lang="en-US" dirty="0"/>
                  <a:t> The </a:t>
                </a:r>
                <a:r>
                  <a:rPr lang="en-US" i="1" dirty="0"/>
                  <a:t>total depth</a:t>
                </a:r>
                <a:r>
                  <a:rPr lang="en-US" dirty="0"/>
                  <a:t> of the water in the bucket right now.</a:t>
                </a:r>
              </a:p>
              <a:p>
                <a:endParaRPr lang="en-US" dirty="0"/>
              </a:p>
              <a:p>
                <a:r>
                  <a:rPr lang="en-US" sz="1200" b="1" kern="1200" dirty="0">
                    <a:solidFill>
                      <a:schemeClr val="tx1"/>
                    </a:solidFill>
                    <a:effectLst/>
                    <a:latin typeface="+mn-lt"/>
                    <a:ea typeface="+mn-ea"/>
                    <a:cs typeface="+mn-cs"/>
                  </a:rPr>
                  <a:t>The Math:</a:t>
                </a:r>
                <a:r>
                  <a:rPr lang="en-US" sz="1200" kern="1200" dirty="0">
                    <a:solidFill>
                      <a:schemeClr val="tx1"/>
                    </a:solidFill>
                    <a:effectLst/>
                    <a:latin typeface="+mn-lt"/>
                    <a:ea typeface="+mn-ea"/>
                    <a:cs typeface="+mn-cs"/>
                  </a:rPr>
                  <a:t> If your monthly prepayment rate is roughly 1.6% in Month 1, 1.8% in Month 2, and 1.9% in Month 3, the </a:t>
                </a:r>
                <a:r>
                  <a:rPr lang="en-US" sz="1200" i="1" kern="1200" dirty="0">
                    <a:solidFill>
                      <a:schemeClr val="tx1"/>
                    </a:solidFill>
                    <a:effectLst/>
                    <a:latin typeface="+mn-lt"/>
                    <a:ea typeface="+mn-ea"/>
                    <a:cs typeface="+mn-cs"/>
                  </a:rPr>
                  <a:t>Cumulative Prepayment Rate</a:t>
                </a:r>
                <a:r>
                  <a:rPr lang="en-US" sz="1200" kern="1200" dirty="0">
                    <a:solidFill>
                      <a:schemeClr val="tx1"/>
                    </a:solidFill>
                    <a:effectLst/>
                    <a:latin typeface="+mn-lt"/>
                    <a:ea typeface="+mn-ea"/>
                    <a:cs typeface="+mn-cs"/>
                  </a:rPr>
                  <a:t> at Month 3 is:</a:t>
                </a:r>
                <a:r>
                  <a:rPr lang="en-US" sz="1200" kern="1200" baseline="0" dirty="0">
                    <a:solidFill>
                      <a:schemeClr val="tx1"/>
                    </a:solidFill>
                    <a:effectLst/>
                    <a:latin typeface="+mn-lt"/>
                    <a:ea typeface="+mn-ea"/>
                    <a:cs typeface="+mn-cs"/>
                  </a:rPr>
                  <a:t> </a:t>
                </a:r>
                <a14:m>
                  <m:oMath xmlns:m="http://schemas.openxmlformats.org/officeDocument/2006/math">
                    <m:r>
                      <a:rPr lang="en-US" sz="1200" kern="1200" smtClean="0">
                        <a:solidFill>
                          <a:schemeClr val="tx1"/>
                        </a:solidFill>
                        <a:latin typeface="+mn-lt"/>
                        <a:ea typeface="+mn-ea"/>
                        <a:cs typeface="+mn-cs"/>
                      </a:rPr>
                      <m:t>1.6</m:t>
                    </m:r>
                    <m:r>
                      <a:rPr lang="en-US" sz="1200" i="0" kern="1200">
                        <a:solidFill>
                          <a:schemeClr val="tx1"/>
                        </a:solidFill>
                        <a:latin typeface="+mn-lt"/>
                        <a:ea typeface="+mn-ea"/>
                        <a:cs typeface="+mn-cs"/>
                      </a:rPr>
                      <m:t>%+1.8%+1.9%=5.3%</m:t>
                    </m:r>
                  </m:oMath>
                </a14:m>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By Month 4, as your data shows, it climbs to </a:t>
                </a:r>
                <a:r>
                  <a:rPr lang="en-US" sz="1200" b="1" kern="1200" dirty="0">
                    <a:solidFill>
                      <a:schemeClr val="tx1"/>
                    </a:solidFill>
                    <a:effectLst/>
                    <a:latin typeface="+mn-lt"/>
                    <a:ea typeface="+mn-ea"/>
                    <a:cs typeface="+mn-cs"/>
                  </a:rPr>
                  <a:t>7.4%</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The Trajectory:</a:t>
                </a:r>
                <a:r>
                  <a:rPr lang="en-US" sz="1200" kern="1200" dirty="0">
                    <a:solidFill>
                      <a:schemeClr val="tx1"/>
                    </a:solidFill>
                    <a:effectLst/>
                    <a:latin typeface="+mn-lt"/>
                    <a:ea typeface="+mn-ea"/>
                    <a:cs typeface="+mn-cs"/>
                  </a:rPr>
                  <a:t> This analysis tells investors exactly how fast the entire pool is dissolving. Over a 36- or 60-month lifecycle, these curves flatten out as fewer active loans remain in the pool.</a:t>
                </a:r>
              </a:p>
              <a:p>
                <a:endParaRPr lang="en-US" dirty="0"/>
              </a:p>
              <a:p>
                <a:r>
                  <a:rPr lang="en-US" dirty="0"/>
                  <a:t>This chart shows the total, running percentage of the original portfolio balance that has exited the system over time.</a:t>
                </a:r>
              </a:p>
              <a:p>
                <a:endParaRPr lang="en-US" dirty="0"/>
              </a:p>
              <a:p>
                <a:r>
                  <a:rPr lang="en-US" b="1" dirty="0"/>
                  <a:t>&gt; Let’s focus first on the rapid rise of the orange line</a:t>
                </a:r>
                <a:r>
                  <a:rPr lang="en-US" dirty="0"/>
                  <a:t>, which is the </a:t>
                </a:r>
                <a:r>
                  <a:rPr lang="en-US" b="1" dirty="0"/>
                  <a:t>Cumulative Prepayment Rate</a:t>
                </a:r>
                <a:r>
                  <a:rPr lang="en-US" dirty="0"/>
                  <a:t>. In just </a:t>
                </a:r>
                <a:r>
                  <a:rPr lang="en-US" b="1" dirty="0"/>
                  <a:t>four months on book, 7.4% of the entire original 543-million-dollar pool has already been paid off early</a:t>
                </a:r>
                <a:r>
                  <a:rPr lang="en-US" dirty="0"/>
                  <a:t> by borrowers. This high prepayment velocity is great news for the risk profile. It means a substantial amount of principal is being returned to investors rapidly, naturally de-risking the remaining portfolio.</a:t>
                </a:r>
              </a:p>
              <a:p>
                <a:r>
                  <a:rPr lang="en-US" dirty="0"/>
                  <a:t>In stark contrast, look at the blue line hugging the very bottom of the chart: the </a:t>
                </a:r>
                <a:r>
                  <a:rPr lang="en-US" b="1" dirty="0"/>
                  <a:t>Cumulative Default Rate</a:t>
                </a:r>
                <a:r>
                  <a:rPr lang="en-US" dirty="0"/>
                  <a:t>. Even after four months of portfolio seasoning, the cumulative loss is effectively flat, sitting at just </a:t>
                </a:r>
                <a:r>
                  <a:rPr lang="en-US" b="1" dirty="0"/>
                  <a:t>0.02%</a:t>
                </a:r>
                <a:r>
                  <a:rPr lang="en-US" dirty="0"/>
                  <a:t>.</a:t>
                </a:r>
              </a:p>
              <a:p>
                <a:r>
                  <a:rPr lang="en-US" dirty="0"/>
                  <a:t>When you look at these two curves together, it paints a picture of a highly secure, high-velocity asset pool. Capital is returning to the seller quickly via prepayments, while the lifetime credit losses are starting at near-zero</a:t>
                </a:r>
              </a:p>
            </p:txBody>
          </p:sp>
        </mc:Choice>
        <mc:Fallback>
          <p:sp>
            <p:nvSpPr>
              <p:cNvPr id="3" name="Notes Placeholder 2"/>
              <p:cNvSpPr>
                <a:spLocks noGrp="1"/>
              </p:cNvSpPr>
              <p:nvPr>
                <p:ph type="body" idx="1"/>
              </p:nvPr>
            </p:nvSpPr>
            <p:spPr/>
            <p:txBody>
              <a:bodyPr/>
              <a:lstStyle/>
              <a:p>
                <a:r>
                  <a:rPr lang="en-US" dirty="0"/>
                  <a:t>While </a:t>
                </a:r>
                <a:r>
                  <a:rPr lang="en-US" b="1" dirty="0"/>
                  <a:t>Monthly Rates</a:t>
                </a:r>
                <a:r>
                  <a:rPr lang="en-US" dirty="0"/>
                  <a:t> show you what happens in a single isolated month, </a:t>
                </a:r>
                <a:r>
                  <a:rPr lang="en-US" b="1" dirty="0"/>
                  <a:t>Cumulative Rates</a:t>
                </a:r>
                <a:r>
                  <a:rPr lang="en-US" dirty="0"/>
                  <a:t> keep a running total over time. They show the </a:t>
                </a:r>
                <a:r>
                  <a:rPr lang="en-US" i="1" dirty="0"/>
                  <a:t>total percentage</a:t>
                </a:r>
                <a:r>
                  <a:rPr lang="en-US" dirty="0"/>
                  <a:t> of the original loan pool that has exited via default or prepayment from Day 1 up to the current month.</a:t>
                </a:r>
              </a:p>
              <a:p>
                <a:r>
                  <a:rPr lang="en-US" dirty="0"/>
                  <a:t>Think of it like a bucket filling up:</a:t>
                </a:r>
              </a:p>
              <a:p>
                <a:r>
                  <a:rPr lang="en-US" b="1" dirty="0"/>
                  <a:t>Monthly Rate:</a:t>
                </a:r>
                <a:r>
                  <a:rPr lang="en-US" dirty="0"/>
                  <a:t> How much water was added to the bucket </a:t>
                </a:r>
                <a:r>
                  <a:rPr lang="en-US" i="1" dirty="0"/>
                  <a:t>this month</a:t>
                </a:r>
                <a:r>
                  <a:rPr lang="en-US" dirty="0"/>
                  <a:t>.</a:t>
                </a:r>
              </a:p>
              <a:p>
                <a:r>
                  <a:rPr lang="en-US" b="1" dirty="0"/>
                  <a:t>Cumulative Rate:</a:t>
                </a:r>
                <a:r>
                  <a:rPr lang="en-US" dirty="0"/>
                  <a:t> The </a:t>
                </a:r>
                <a:r>
                  <a:rPr lang="en-US" i="1" dirty="0"/>
                  <a:t>total depth</a:t>
                </a:r>
                <a:r>
                  <a:rPr lang="en-US" dirty="0"/>
                  <a:t> of the water in the bucket right now.</a:t>
                </a:r>
              </a:p>
              <a:p>
                <a:endParaRPr lang="en-US" dirty="0"/>
              </a:p>
              <a:p>
                <a:r>
                  <a:rPr lang="en-US" sz="1200" b="1" kern="1200" dirty="0">
                    <a:solidFill>
                      <a:schemeClr val="tx1"/>
                    </a:solidFill>
                    <a:effectLst/>
                    <a:latin typeface="+mn-lt"/>
                    <a:ea typeface="+mn-ea"/>
                    <a:cs typeface="+mn-cs"/>
                  </a:rPr>
                  <a:t>The Math:</a:t>
                </a:r>
                <a:r>
                  <a:rPr lang="en-US" sz="1200" kern="1200" dirty="0">
                    <a:solidFill>
                      <a:schemeClr val="tx1"/>
                    </a:solidFill>
                    <a:effectLst/>
                    <a:latin typeface="+mn-lt"/>
                    <a:ea typeface="+mn-ea"/>
                    <a:cs typeface="+mn-cs"/>
                  </a:rPr>
                  <a:t> If your monthly prepayment rate is roughly 1.6% in Month 1, 1.8% in Month 2, and 1.9% in Month 3, the </a:t>
                </a:r>
                <a:r>
                  <a:rPr lang="en-US" sz="1200" i="1" kern="1200" dirty="0">
                    <a:solidFill>
                      <a:schemeClr val="tx1"/>
                    </a:solidFill>
                    <a:effectLst/>
                    <a:latin typeface="+mn-lt"/>
                    <a:ea typeface="+mn-ea"/>
                    <a:cs typeface="+mn-cs"/>
                  </a:rPr>
                  <a:t>Cumulative Prepayment Rate</a:t>
                </a:r>
                <a:r>
                  <a:rPr lang="en-US" sz="1200" kern="1200" dirty="0">
                    <a:solidFill>
                      <a:schemeClr val="tx1"/>
                    </a:solidFill>
                    <a:effectLst/>
                    <a:latin typeface="+mn-lt"/>
                    <a:ea typeface="+mn-ea"/>
                    <a:cs typeface="+mn-cs"/>
                  </a:rPr>
                  <a:t> at Month 3 is:</a:t>
                </a:r>
                <a:r>
                  <a:rPr lang="en-US" sz="1200" kern="1200" baseline="0" dirty="0">
                    <a:solidFill>
                      <a:schemeClr val="tx1"/>
                    </a:solidFill>
                    <a:effectLst/>
                    <a:latin typeface="+mn-lt"/>
                    <a:ea typeface="+mn-ea"/>
                    <a:cs typeface="+mn-cs"/>
                  </a:rPr>
                  <a:t> </a:t>
                </a:r>
                <a:r>
                  <a:rPr lang="en-US" sz="1200" i="0" kern="1200">
                    <a:solidFill>
                      <a:schemeClr val="tx1"/>
                    </a:solidFill>
                    <a:latin typeface="+mn-lt"/>
                    <a:ea typeface="+mn-ea"/>
                    <a:cs typeface="+mn-cs"/>
                  </a:rPr>
                  <a:t>1.6%+1.8%+1.9%=5.3%</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By Month 4, as your data shows, it climbs to </a:t>
                </a:r>
                <a:r>
                  <a:rPr lang="en-US" sz="1200" b="1" kern="1200" dirty="0">
                    <a:solidFill>
                      <a:schemeClr val="tx1"/>
                    </a:solidFill>
                    <a:effectLst/>
                    <a:latin typeface="+mn-lt"/>
                    <a:ea typeface="+mn-ea"/>
                    <a:cs typeface="+mn-cs"/>
                  </a:rPr>
                  <a:t>7.4%</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The Trajectory:</a:t>
                </a:r>
                <a:r>
                  <a:rPr lang="en-US" sz="1200" kern="1200" dirty="0">
                    <a:solidFill>
                      <a:schemeClr val="tx1"/>
                    </a:solidFill>
                    <a:effectLst/>
                    <a:latin typeface="+mn-lt"/>
                    <a:ea typeface="+mn-ea"/>
                    <a:cs typeface="+mn-cs"/>
                  </a:rPr>
                  <a:t> This analysis tells investors exactly how fast the entire pool is dissolving. Over a 36- or 60-month lifecycle, these curves flatten out as fewer active loans remain in the pool.</a:t>
                </a:r>
              </a:p>
              <a:p>
                <a:endParaRPr lang="en-US" dirty="0"/>
              </a:p>
              <a:p>
                <a:r>
                  <a:rPr lang="en-US" dirty="0"/>
                  <a:t>This chart shows the total, running percentage of the original portfolio balance that has exited the system over time.</a:t>
                </a:r>
              </a:p>
              <a:p>
                <a:endParaRPr lang="en-US" dirty="0"/>
              </a:p>
              <a:p>
                <a:r>
                  <a:rPr lang="en-US" b="1" dirty="0"/>
                  <a:t>&gt; Let’s focus first on the rapid rise of the orange line</a:t>
                </a:r>
                <a:r>
                  <a:rPr lang="en-US" dirty="0"/>
                  <a:t>, which is the </a:t>
                </a:r>
                <a:r>
                  <a:rPr lang="en-US" b="1" dirty="0"/>
                  <a:t>Cumulative Prepayment Rate</a:t>
                </a:r>
                <a:r>
                  <a:rPr lang="en-US" dirty="0"/>
                  <a:t>. In just </a:t>
                </a:r>
                <a:r>
                  <a:rPr lang="en-US" b="1" dirty="0"/>
                  <a:t>four months on book, 7.4% of the entire original 543-million-dollar pool has already been paid off early</a:t>
                </a:r>
                <a:r>
                  <a:rPr lang="en-US" dirty="0"/>
                  <a:t> by borrowers. This high prepayment velocity is great news for the risk profile. It means a substantial amount of principal is being returned to investors rapidly, naturally de-risking the remaining portfolio.</a:t>
                </a:r>
              </a:p>
              <a:p>
                <a:r>
                  <a:rPr lang="en-US" dirty="0"/>
                  <a:t>In stark contrast, look at the blue line hugging the very bottom of the chart: the </a:t>
                </a:r>
                <a:r>
                  <a:rPr lang="en-US" b="1" dirty="0"/>
                  <a:t>Cumulative Default Rate</a:t>
                </a:r>
                <a:r>
                  <a:rPr lang="en-US" dirty="0"/>
                  <a:t>. Even after four months of portfolio seasoning, the cumulative loss is effectively flat, sitting at just </a:t>
                </a:r>
                <a:r>
                  <a:rPr lang="en-US" b="1" dirty="0"/>
                  <a:t>0.02%</a:t>
                </a:r>
                <a:r>
                  <a:rPr lang="en-US" dirty="0"/>
                  <a:t>.</a:t>
                </a:r>
              </a:p>
              <a:p>
                <a:r>
                  <a:rPr lang="en-US" dirty="0"/>
                  <a:t>When you look at these two curves together, it paints a picture of a highly secure, high-velocity asset pool. Capital is returning to the seller quickly via prepayments, while the lifetime credit losses are starting at near-zero</a:t>
                </a:r>
              </a:p>
            </p:txBody>
          </p:sp>
        </mc:Fallback>
      </mc:AlternateContent>
      <p:sp>
        <p:nvSpPr>
          <p:cNvPr id="4" name="Slide Number Placeholder 3"/>
          <p:cNvSpPr>
            <a:spLocks noGrp="1"/>
          </p:cNvSpPr>
          <p:nvPr>
            <p:ph type="sldNum" sz="quarter" idx="5"/>
          </p:nvPr>
        </p:nvSpPr>
        <p:spPr/>
        <p:txBody>
          <a:bodyPr/>
          <a:lstStyle/>
          <a:p>
            <a:fld id="{14BE84DB-4AAE-45B9-91CC-5E1B007624A1}" type="slidenum">
              <a:rPr lang="en-US" smtClean="0"/>
              <a:t>17</a:t>
            </a:fld>
            <a:endParaRPr lang="en-US"/>
          </a:p>
        </p:txBody>
      </p:sp>
    </p:spTree>
    <p:extLst>
      <p:ext uri="{BB962C8B-B14F-4D97-AF65-F5344CB8AC3E}">
        <p14:creationId xmlns:p14="http://schemas.microsoft.com/office/powerpoint/2010/main" val="2205806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a:t>
            </a:r>
            <a:r>
              <a:rPr lang="en-US" b="1" dirty="0"/>
              <a:t>Curve Projection</a:t>
            </a:r>
            <a:r>
              <a:rPr lang="en-US" dirty="0"/>
              <a:t> </a:t>
            </a:r>
            <a:r>
              <a:rPr lang="en-US" b="1" dirty="0"/>
              <a:t>bridges the gap between the max mob (47, short of 13 to make 60mob). It uses the historical data available to forecast how much more money will default or prepay between Month 48 and Month 60.</a:t>
            </a:r>
          </a:p>
          <a:p>
            <a:r>
              <a:rPr lang="en-US" dirty="0"/>
              <a:t>How? Find the max mob, use Linear Decay (take the last monthly rate for def and </a:t>
            </a:r>
            <a:r>
              <a:rPr lang="en-US" dirty="0" err="1"/>
              <a:t>prepmnts</a:t>
            </a:r>
            <a:r>
              <a:rPr lang="en-US" dirty="0"/>
              <a:t> and brings them down to zero by month 60, reflecting the natural reality of a loan pool getting closer to its end date (fewer people left o prepay or default), </a:t>
            </a:r>
            <a:r>
              <a:rPr lang="en-US" b="1" dirty="0"/>
              <a:t>THEN </a:t>
            </a:r>
            <a:r>
              <a:rPr lang="en-US" b="0" dirty="0"/>
              <a:t>attaching the new 13-month forecast to the historical data and a cumulative sum is run. </a:t>
            </a:r>
            <a:r>
              <a:rPr lang="en-US" b="1" dirty="0"/>
              <a:t>RESULT Lifetime Default Rate and Lifetime Prepay Rate for the pool once every single loan has run its </a:t>
            </a:r>
            <a:r>
              <a:rPr lang="en-US" b="1" dirty="0" err="1"/>
              <a:t>course.B</a:t>
            </a:r>
            <a:endParaRPr lang="en-US" b="1" dirty="0"/>
          </a:p>
          <a:p>
            <a:endParaRPr lang="en-US" b="1" dirty="0"/>
          </a:p>
          <a:p>
            <a:r>
              <a:rPr lang="en-US" dirty="0"/>
              <a:t>To generate this, I took the final observed monthly default and prepayment rates from Month 47 and conservatively tapered them down to zero (Linear Decay) across the remaining 13 months of the asset lifecycle.</a:t>
            </a:r>
          </a:p>
          <a:p>
            <a:r>
              <a:rPr lang="en-US" dirty="0"/>
              <a:t>If you look at the chart, the </a:t>
            </a:r>
            <a:r>
              <a:rPr lang="en-US" b="1" dirty="0"/>
              <a:t>dashed vertical line marks Month 47, which is the boundary where our hard data ends and our projection begins</a:t>
            </a:r>
            <a:r>
              <a:rPr lang="en-US" dirty="0"/>
              <a:t>.</a:t>
            </a:r>
          </a:p>
          <a:p>
            <a:r>
              <a:rPr lang="en-US" dirty="0"/>
              <a:t>Notice how both the </a:t>
            </a:r>
            <a:r>
              <a:rPr lang="en-US" b="1" dirty="0"/>
              <a:t>Projected Cumulative Prepay</a:t>
            </a:r>
            <a:r>
              <a:rPr lang="en-US" dirty="0"/>
              <a:t> and </a:t>
            </a:r>
            <a:r>
              <a:rPr lang="en-US" b="1" dirty="0"/>
              <a:t>Projected Cumulative Default</a:t>
            </a:r>
            <a:r>
              <a:rPr lang="en-US" dirty="0"/>
              <a:t> curves begin to flatten out significantly after this line. This stabilization is exactly what we want to see. It shows that by the time our pools reach their final year, the portfolio's risk and velocity have largely played out, leaving a highly predictable tail-end.</a:t>
            </a:r>
          </a:p>
          <a:p>
            <a:r>
              <a:rPr lang="en-US" dirty="0"/>
              <a:t>Ultimately, this projection allows us to calculate our expected lifetime net losses and prepayments with a high degree of confidence. It proves that even when factoring in the remaining unseasoned life of these loans, structural credit metrics remain stable and yields are protected.</a:t>
            </a:r>
          </a:p>
          <a:p>
            <a:endParaRPr lang="en-US" dirty="0"/>
          </a:p>
        </p:txBody>
      </p:sp>
      <p:sp>
        <p:nvSpPr>
          <p:cNvPr id="4" name="Slide Number Placeholder 3"/>
          <p:cNvSpPr>
            <a:spLocks noGrp="1"/>
          </p:cNvSpPr>
          <p:nvPr>
            <p:ph type="sldNum" sz="quarter" idx="5"/>
          </p:nvPr>
        </p:nvSpPr>
        <p:spPr/>
        <p:txBody>
          <a:bodyPr/>
          <a:lstStyle/>
          <a:p>
            <a:fld id="{14BE84DB-4AAE-45B9-91CC-5E1B007624A1}" type="slidenum">
              <a:rPr lang="en-US" smtClean="0"/>
              <a:t>19</a:t>
            </a:fld>
            <a:endParaRPr lang="en-US"/>
          </a:p>
        </p:txBody>
      </p:sp>
    </p:spTree>
    <p:extLst>
      <p:ext uri="{BB962C8B-B14F-4D97-AF65-F5344CB8AC3E}">
        <p14:creationId xmlns:p14="http://schemas.microsoft.com/office/powerpoint/2010/main" val="360291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Drilling down into the underlying drivers of the asset performance. </a:t>
            </a:r>
          </a:p>
          <a:p>
            <a:endParaRPr lang="en-US" dirty="0"/>
          </a:p>
          <a:p>
            <a:r>
              <a:rPr lang="en-US" dirty="0"/>
              <a:t>Cohort Analysis answers these questions. Breaking up the massive pool of loans into highly specific, bite-sized groups based on shared characteristics and then tracking them over time. Prevent macro data from masking underlying risk.</a:t>
            </a:r>
          </a:p>
        </p:txBody>
      </p:sp>
      <p:sp>
        <p:nvSpPr>
          <p:cNvPr id="4" name="Slide Number Placeholder 3"/>
          <p:cNvSpPr>
            <a:spLocks noGrp="1"/>
          </p:cNvSpPr>
          <p:nvPr>
            <p:ph type="sldNum" sz="quarter" idx="5"/>
          </p:nvPr>
        </p:nvSpPr>
        <p:spPr/>
        <p:txBody>
          <a:bodyPr/>
          <a:lstStyle/>
          <a:p>
            <a:fld id="{14BE84DB-4AAE-45B9-91CC-5E1B007624A1}" type="slidenum">
              <a:rPr lang="en-US" smtClean="0"/>
              <a:t>21</a:t>
            </a:fld>
            <a:endParaRPr lang="en-US"/>
          </a:p>
        </p:txBody>
      </p:sp>
    </p:spTree>
    <p:extLst>
      <p:ext uri="{BB962C8B-B14F-4D97-AF65-F5344CB8AC3E}">
        <p14:creationId xmlns:p14="http://schemas.microsoft.com/office/powerpoint/2010/main" val="188899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tracks the running total of early principal returns, separated by the 36-month and 60-month loan cohorts.</a:t>
            </a:r>
          </a:p>
          <a:p>
            <a:endParaRPr lang="en-US" dirty="0"/>
          </a:p>
          <a:p>
            <a:r>
              <a:rPr lang="en-US" dirty="0"/>
              <a:t>Notice the orange line representing the </a:t>
            </a:r>
            <a:r>
              <a:rPr lang="en-US" b="1" dirty="0"/>
              <a:t>60-month loans</a:t>
            </a:r>
            <a:r>
              <a:rPr lang="en-US" dirty="0"/>
              <a:t>. It accelerates sharply right from the beginning, eventually gapping the 36-month line significantly. By month 40 on book, it peaks at </a:t>
            </a:r>
            <a:r>
              <a:rPr lang="en-US" b="1" dirty="0"/>
              <a:t>65% to 70% of the original 60-month pool balance has prepaid completely</a:t>
            </a:r>
            <a:r>
              <a:rPr lang="en-US" dirty="0"/>
              <a:t>. Meanwhile, the 36-month cohort (blue line) sits much lower, closer to 45%.</a:t>
            </a:r>
          </a:p>
          <a:p>
            <a:endParaRPr lang="en-US" dirty="0"/>
          </a:p>
          <a:p>
            <a:r>
              <a:rPr lang="en-US" dirty="0"/>
              <a:t>It could signal that Borrowers select the 60-month option initially to keep their mandatory monthly payments low and manageable. But as they hit milestone liquidity events over that longer 5-year horizon, or look to refinance out of high-interest debt, they aggressively wipe out the principal early.</a:t>
            </a:r>
          </a:p>
        </p:txBody>
      </p:sp>
      <p:sp>
        <p:nvSpPr>
          <p:cNvPr id="4" name="Slide Number Placeholder 3"/>
          <p:cNvSpPr>
            <a:spLocks noGrp="1"/>
          </p:cNvSpPr>
          <p:nvPr>
            <p:ph type="sldNum" sz="quarter" idx="5"/>
          </p:nvPr>
        </p:nvSpPr>
        <p:spPr/>
        <p:txBody>
          <a:bodyPr/>
          <a:lstStyle/>
          <a:p>
            <a:fld id="{14BE84DB-4AAE-45B9-91CC-5E1B007624A1}" type="slidenum">
              <a:rPr lang="en-US" smtClean="0"/>
              <a:t>22</a:t>
            </a:fld>
            <a:endParaRPr lang="en-US"/>
          </a:p>
        </p:txBody>
      </p:sp>
    </p:spTree>
    <p:extLst>
      <p:ext uri="{BB962C8B-B14F-4D97-AF65-F5344CB8AC3E}">
        <p14:creationId xmlns:p14="http://schemas.microsoft.com/office/powerpoint/2010/main" val="2578909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analysis tracks the running total percentage of loan losses (</a:t>
            </a:r>
            <a:r>
              <a:rPr lang="en-US" b="1" dirty="0"/>
              <a:t>Cumulative Defaults</a:t>
            </a:r>
            <a:r>
              <a:rPr lang="en-US" dirty="0"/>
              <a:t>) grouped by the specific year the loans were issued (</a:t>
            </a:r>
            <a:r>
              <a:rPr lang="en-US" b="1" dirty="0"/>
              <a:t>Origination Year</a:t>
            </a:r>
            <a:r>
              <a:rPr lang="en-US" dirty="0"/>
              <a:t>, also known as a </a:t>
            </a:r>
            <a:r>
              <a:rPr lang="en-US" b="1" dirty="0"/>
              <a:t>Vintage</a:t>
            </a:r>
            <a:r>
              <a:rPr lang="en-US" dirty="0"/>
              <a:t>).</a:t>
            </a:r>
          </a:p>
          <a:p>
            <a:r>
              <a:rPr lang="en-US" dirty="0"/>
              <a:t>It answers: </a:t>
            </a:r>
            <a:r>
              <a:rPr lang="en-US" b="1" dirty="0"/>
              <a:t>Which year's batch of loans turned out to be the riskiest, and how did changing economic conditions or underwriting standards affect our bottom line?</a:t>
            </a:r>
          </a:p>
          <a:p>
            <a:endParaRPr lang="en-US" b="1" dirty="0"/>
          </a:p>
          <a:p>
            <a:r>
              <a:rPr lang="en-US" dirty="0"/>
              <a:t>This vintage analysis isolates our loan performance by the exact year of issuance, allowing us to see how different economic cycles and shifts in our underwriting credit box have played out over time.</a:t>
            </a:r>
          </a:p>
          <a:p>
            <a:endParaRPr lang="en-US" dirty="0"/>
          </a:p>
          <a:p>
            <a:r>
              <a:rPr lang="en-US" dirty="0"/>
              <a:t>When you look at the curves across our 2016 through 2020 vintages, you can clearly see the footprint of our strategic choices and the broader economy.</a:t>
            </a:r>
          </a:p>
          <a:p>
            <a:endParaRPr lang="en-US" dirty="0"/>
          </a:p>
          <a:p>
            <a:r>
              <a:rPr lang="en-US" b="1" dirty="0"/>
              <a:t>2019 vintage</a:t>
            </a:r>
            <a:r>
              <a:rPr lang="en-US" dirty="0"/>
              <a:t> exhibits the steepest trajectory, accumulating defaults at a faster rate than previous years. This perfectly aligns with the two factors we've highlighted today: first, our deliberate credit expansion in 2019 deeper into near-prime tiers, and second, the fact that these borrowers ran headfirst into the economic disruptions of the 2020 pandemic early in their loan lifecycles.</a:t>
            </a:r>
          </a:p>
          <a:p>
            <a:endParaRPr lang="en-US" dirty="0"/>
          </a:p>
          <a:p>
            <a:r>
              <a:rPr lang="en-US" b="1" dirty="0"/>
              <a:t>2020 curve flattens </a:t>
            </a:r>
            <a:r>
              <a:rPr lang="en-US" dirty="0"/>
              <a:t>out. This could be the tightening of credit risk, where they restricted credit limits and raised the weighted average FICO back to 740. Perhaps insulated the new originations from systemic shock.</a:t>
            </a:r>
          </a:p>
        </p:txBody>
      </p:sp>
      <p:sp>
        <p:nvSpPr>
          <p:cNvPr id="4" name="Slide Number Placeholder 3"/>
          <p:cNvSpPr>
            <a:spLocks noGrp="1"/>
          </p:cNvSpPr>
          <p:nvPr>
            <p:ph type="sldNum" sz="quarter" idx="5"/>
          </p:nvPr>
        </p:nvSpPr>
        <p:spPr/>
        <p:txBody>
          <a:bodyPr/>
          <a:lstStyle/>
          <a:p>
            <a:fld id="{14BE84DB-4AAE-45B9-91CC-5E1B007624A1}" type="slidenum">
              <a:rPr lang="en-US" smtClean="0"/>
              <a:t>23</a:t>
            </a:fld>
            <a:endParaRPr lang="en-US"/>
          </a:p>
        </p:txBody>
      </p:sp>
    </p:spTree>
    <p:extLst>
      <p:ext uri="{BB962C8B-B14F-4D97-AF65-F5344CB8AC3E}">
        <p14:creationId xmlns:p14="http://schemas.microsoft.com/office/powerpoint/2010/main" val="1425880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of this analysis is to verify that the credit scoring system is doing its job. In a healthy portfolio, we want to see clean separation between credit tiers.</a:t>
            </a:r>
          </a:p>
          <a:p>
            <a:r>
              <a:rPr lang="en-US" dirty="0"/>
              <a:t>This means lower FICO bands should consistently show higher defaults, and higher FICO bands should show lower defaults, without the lines ever crossing.</a:t>
            </a:r>
          </a:p>
        </p:txBody>
      </p:sp>
      <p:sp>
        <p:nvSpPr>
          <p:cNvPr id="4" name="Slide Number Placeholder 3"/>
          <p:cNvSpPr>
            <a:spLocks noGrp="1"/>
          </p:cNvSpPr>
          <p:nvPr>
            <p:ph type="sldNum" sz="quarter" idx="5"/>
          </p:nvPr>
        </p:nvSpPr>
        <p:spPr/>
        <p:txBody>
          <a:bodyPr/>
          <a:lstStyle/>
          <a:p>
            <a:fld id="{14BE84DB-4AAE-45B9-91CC-5E1B007624A1}" type="slidenum">
              <a:rPr lang="en-US" smtClean="0"/>
              <a:t>24</a:t>
            </a:fld>
            <a:endParaRPr lang="en-US"/>
          </a:p>
        </p:txBody>
      </p:sp>
    </p:spTree>
    <p:extLst>
      <p:ext uri="{BB962C8B-B14F-4D97-AF65-F5344CB8AC3E}">
        <p14:creationId xmlns:p14="http://schemas.microsoft.com/office/powerpoint/2010/main" val="1779418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E3CDB-AD6B-8F6E-1DDC-70983AF3E3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CEDB88-3BCA-A8E1-1D5C-5BF382869C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0EF894-954D-02A9-F4BE-C19758478B62}"/>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5" name="Footer Placeholder 4">
            <a:extLst>
              <a:ext uri="{FF2B5EF4-FFF2-40B4-BE49-F238E27FC236}">
                <a16:creationId xmlns:a16="http://schemas.microsoft.com/office/drawing/2014/main" id="{0459976C-C05E-75AB-5800-AFAEA5FA04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91950-D2AB-5E6D-1344-64E0885BF2E6}"/>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3362391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89C4-70D4-2E6C-89A2-9511DE2066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899970-F64B-B548-3531-21A23418E4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6631F2-64AC-49AA-F60B-1E14EBAE16E8}"/>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5" name="Footer Placeholder 4">
            <a:extLst>
              <a:ext uri="{FF2B5EF4-FFF2-40B4-BE49-F238E27FC236}">
                <a16:creationId xmlns:a16="http://schemas.microsoft.com/office/drawing/2014/main" id="{268A792C-296E-9E9D-05B5-96CFF01CC3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06016-4FD1-5B5C-C22B-408F002FFA8C}"/>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533782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253AD-11BB-53D7-BC61-783B11A660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7A32C4-F5A0-4E30-9F78-E6FB99779F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3CAE4C-E17F-6141-F5A4-1EBB34BB9179}"/>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5" name="Footer Placeholder 4">
            <a:extLst>
              <a:ext uri="{FF2B5EF4-FFF2-40B4-BE49-F238E27FC236}">
                <a16:creationId xmlns:a16="http://schemas.microsoft.com/office/drawing/2014/main" id="{AA8F1B31-FA74-97FD-D61F-30728ADE0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46C505-B55F-B9F4-EA6A-4DCF597F8872}"/>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2113875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3E7BA-E0C4-313D-EF25-59492FEAE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CE9B75-E61C-5997-5CE4-7CD23F9C5E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D10158-9D0D-9181-C1B0-CBCB4D5F4F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11A08A-4CB6-C77D-00E4-5DDEE24111D7}"/>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6" name="Footer Placeholder 5">
            <a:extLst>
              <a:ext uri="{FF2B5EF4-FFF2-40B4-BE49-F238E27FC236}">
                <a16:creationId xmlns:a16="http://schemas.microsoft.com/office/drawing/2014/main" id="{F345B372-CEE5-94AC-7187-1169C13F5F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BB1FA9-D52B-5449-AD2A-F423BDFD73CC}"/>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4146377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0D22A-CFA8-8B9D-41FE-DEA43C29AE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D59A6B-9A03-1978-85FD-3E429FE83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5D238E-A629-C695-C070-8281C6DD81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8E7805-9AE9-DF40-C568-2363AF8429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34137C-73E9-3F3D-FE10-FFFBC067C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F8C0D5-EC80-823E-1587-0041163605C7}"/>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8" name="Footer Placeholder 7">
            <a:extLst>
              <a:ext uri="{FF2B5EF4-FFF2-40B4-BE49-F238E27FC236}">
                <a16:creationId xmlns:a16="http://schemas.microsoft.com/office/drawing/2014/main" id="{B36919AF-40E4-EA74-03E5-ACF1DABDBC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A7D2CF-33B2-21FC-3469-91357A585ECE}"/>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2546276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1F049-24DE-1DBD-091D-DB018EDDD2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089E3A-6554-B840-24EC-A66B3664694B}"/>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4" name="Footer Placeholder 3">
            <a:extLst>
              <a:ext uri="{FF2B5EF4-FFF2-40B4-BE49-F238E27FC236}">
                <a16:creationId xmlns:a16="http://schemas.microsoft.com/office/drawing/2014/main" id="{B0A3A400-A547-FFA4-86AA-6BB1CD941A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504B09-FA8D-CDC1-D42F-E6A9A88AA1CB}"/>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187040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F708A3-CCB7-FC29-D622-4E086233A2F0}"/>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3" name="Footer Placeholder 2">
            <a:extLst>
              <a:ext uri="{FF2B5EF4-FFF2-40B4-BE49-F238E27FC236}">
                <a16:creationId xmlns:a16="http://schemas.microsoft.com/office/drawing/2014/main" id="{D64C6381-686E-E3BA-8674-2AA52DCF4C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103604-2442-8D77-E63B-CAEEF00B2430}"/>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2786211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314BA-842A-81DF-5A89-73DA962B66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0EDF67-BE2F-9A54-C765-B7BF3665C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712F10-EB99-86D2-A480-555FEC8095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E8DC56-DDE1-A569-5A13-033700C00C13}"/>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6" name="Footer Placeholder 5">
            <a:extLst>
              <a:ext uri="{FF2B5EF4-FFF2-40B4-BE49-F238E27FC236}">
                <a16:creationId xmlns:a16="http://schemas.microsoft.com/office/drawing/2014/main" id="{A63C8C62-1341-B0AD-80DA-39E56C03D0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41129B-DEB3-6EFA-19F8-5407CB4AFCE2}"/>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2053883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74C52-9C55-3024-97B5-E79C59418B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20225D-722C-5755-DB84-E46A448FFA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A079AF-63A7-D283-A31C-98E0F86A9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B499B7-18FC-7014-4057-D287AE11BECA}"/>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6" name="Footer Placeholder 5">
            <a:extLst>
              <a:ext uri="{FF2B5EF4-FFF2-40B4-BE49-F238E27FC236}">
                <a16:creationId xmlns:a16="http://schemas.microsoft.com/office/drawing/2014/main" id="{DB1289CD-62C5-146A-0DB7-281856FABF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551838-3377-6638-3BAB-15A0F9C99012}"/>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1250113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B2BEF-6731-5338-308A-835F98F435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7D71A9-10F7-7038-5F8F-8B798EAEA2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275FEE-5F57-36EC-736C-CA04E26E4453}"/>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5" name="Footer Placeholder 4">
            <a:extLst>
              <a:ext uri="{FF2B5EF4-FFF2-40B4-BE49-F238E27FC236}">
                <a16:creationId xmlns:a16="http://schemas.microsoft.com/office/drawing/2014/main" id="{DD250280-113A-4ADD-454D-0069240E4A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6D7F24-C67C-4E4B-6482-8CC554A9B2E3}"/>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4181153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D21E2B-7DE1-FF53-9888-577C235F6D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C86EE3-DDB9-DA8B-7AA8-946A77D0C9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57E2BF-D833-5F1F-8F1F-1308D7C3D1DD}"/>
              </a:ext>
            </a:extLst>
          </p:cNvPr>
          <p:cNvSpPr>
            <a:spLocks noGrp="1"/>
          </p:cNvSpPr>
          <p:nvPr>
            <p:ph type="dt" sz="half" idx="10"/>
          </p:nvPr>
        </p:nvSpPr>
        <p:spPr/>
        <p:txBody>
          <a:bodyPr/>
          <a:lstStyle/>
          <a:p>
            <a:fld id="{AF5FAB84-5D8F-436D-9030-AAEAD1E3D144}" type="datetimeFigureOut">
              <a:rPr lang="en-US" smtClean="0"/>
              <a:t>7/12/2026</a:t>
            </a:fld>
            <a:endParaRPr lang="en-US"/>
          </a:p>
        </p:txBody>
      </p:sp>
      <p:sp>
        <p:nvSpPr>
          <p:cNvPr id="5" name="Footer Placeholder 4">
            <a:extLst>
              <a:ext uri="{FF2B5EF4-FFF2-40B4-BE49-F238E27FC236}">
                <a16:creationId xmlns:a16="http://schemas.microsoft.com/office/drawing/2014/main" id="{4BB772F4-5E99-B02E-6D52-763CB293B9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51D316-DB0C-26BC-4150-B2A61DC8B543}"/>
              </a:ext>
            </a:extLst>
          </p:cNvPr>
          <p:cNvSpPr>
            <a:spLocks noGrp="1"/>
          </p:cNvSpPr>
          <p:nvPr>
            <p:ph type="sldNum" sz="quarter" idx="12"/>
          </p:nvPr>
        </p:nvSpPr>
        <p:spPr/>
        <p:txBody>
          <a:bodyPr/>
          <a:lstStyle/>
          <a:p>
            <a:fld id="{72E32165-01E6-48D2-8CE9-D6A278C8BF4A}" type="slidenum">
              <a:rPr lang="en-US" smtClean="0"/>
              <a:t>‹#›</a:t>
            </a:fld>
            <a:endParaRPr lang="en-US"/>
          </a:p>
        </p:txBody>
      </p:sp>
    </p:spTree>
    <p:extLst>
      <p:ext uri="{BB962C8B-B14F-4D97-AF65-F5344CB8AC3E}">
        <p14:creationId xmlns:p14="http://schemas.microsoft.com/office/powerpoint/2010/main" val="2643660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9472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4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7DF592-9F24-88DE-8173-21ED21A2C3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A75010-1A21-EE30-6E26-8CE109B59B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09A66-9E20-4148-C8CC-AD991F45F9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5FAB84-5D8F-436D-9030-AAEAD1E3D144}" type="datetimeFigureOut">
              <a:rPr lang="en-US" smtClean="0"/>
              <a:t>7/12/2026</a:t>
            </a:fld>
            <a:endParaRPr lang="en-US"/>
          </a:p>
        </p:txBody>
      </p:sp>
      <p:sp>
        <p:nvSpPr>
          <p:cNvPr id="5" name="Footer Placeholder 4">
            <a:extLst>
              <a:ext uri="{FF2B5EF4-FFF2-40B4-BE49-F238E27FC236}">
                <a16:creationId xmlns:a16="http://schemas.microsoft.com/office/drawing/2014/main" id="{F09DA4DF-501B-5104-9E97-F24CD4AD10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BC5D1B-162B-4E4C-1F35-A0ECC37913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E32165-01E6-48D2-8CE9-D6A278C8BF4A}" type="slidenum">
              <a:rPr lang="en-US" smtClean="0"/>
              <a:t>‹#›</a:t>
            </a:fld>
            <a:endParaRPr lang="en-US"/>
          </a:p>
        </p:txBody>
      </p:sp>
    </p:spTree>
    <p:extLst>
      <p:ext uri="{BB962C8B-B14F-4D97-AF65-F5344CB8AC3E}">
        <p14:creationId xmlns:p14="http://schemas.microsoft.com/office/powerpoint/2010/main" val="3508869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0219"/>
      </p:ext>
    </p:extLst>
  </p:cSld>
  <p:clrMap bg1="lt1" tx1="dk1" bg2="lt2" tx2="dk2" accent1="accent1" accent2="accent2" accent3="accent3" accent4="accent4" accent5="accent5" accent6="accent6" hlink="hlink" folHlink="folHlink"/>
  <p:sldLayoutIdLst>
    <p:sldLayoutId id="2147483662" r:id="rId1"/>
    <p:sldLayoutId id="214748366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allpapercave.com/background-imag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B9569-E2CA-4662-6AC1-BDA5B849B34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3E8A123-049B-06EE-5961-A834197E75D0}"/>
              </a:ext>
            </a:extLst>
          </p:cNvPr>
          <p:cNvSpPr>
            <a:spLocks noGrp="1"/>
          </p:cNvSpPr>
          <p:nvPr>
            <p:ph type="subTitle" idx="1"/>
          </p:nvPr>
        </p:nvSpPr>
        <p:spPr/>
        <p:txBody>
          <a:bodyPr/>
          <a:lstStyle/>
          <a:p>
            <a:endParaRPr lang="en-US"/>
          </a:p>
        </p:txBody>
      </p:sp>
      <p:pic>
        <p:nvPicPr>
          <p:cNvPr id="4" name="Image 0" descr="https://kimi-img.moonshot.cn/pub/slides/slides_tmpl/image/25-08-27-20:09:09-d2nfap98bjvh7rlj0ieg.jpg">
            <a:extLst>
              <a:ext uri="{FF2B5EF4-FFF2-40B4-BE49-F238E27FC236}">
                <a16:creationId xmlns:a16="http://schemas.microsoft.com/office/drawing/2014/main" id="{21ACA050-B261-A118-B6C7-54B3A80B486A}"/>
              </a:ext>
            </a:extLst>
          </p:cNvPr>
          <p:cNvPicPr>
            <a:picLocks noChangeAspect="1"/>
          </p:cNvPicPr>
          <p:nvPr/>
        </p:nvPicPr>
        <p:blipFill>
          <a:blip r:embed="rId2"/>
          <a:srcRect/>
          <a:stretch/>
        </p:blipFill>
        <p:spPr>
          <a:xfrm rot="5400000">
            <a:off x="2667001" y="-2667000"/>
            <a:ext cx="6857999" cy="12192000"/>
          </a:xfrm>
          <a:prstGeom prst="rect">
            <a:avLst/>
          </a:prstGeom>
        </p:spPr>
      </p:pic>
      <p:sp>
        <p:nvSpPr>
          <p:cNvPr id="5" name="Shape 0">
            <a:extLst>
              <a:ext uri="{FF2B5EF4-FFF2-40B4-BE49-F238E27FC236}">
                <a16:creationId xmlns:a16="http://schemas.microsoft.com/office/drawing/2014/main" id="{9C4C1633-54AC-8FD7-0617-7D6A685CDB5B}"/>
              </a:ext>
            </a:extLst>
          </p:cNvPr>
          <p:cNvSpPr/>
          <p:nvPr/>
        </p:nvSpPr>
        <p:spPr>
          <a:xfrm>
            <a:off x="0" y="3709899"/>
            <a:ext cx="12192000" cy="2357278"/>
          </a:xfrm>
          <a:prstGeom prst="rect">
            <a:avLst/>
          </a:prstGeom>
          <a:solidFill>
            <a:schemeClr val="tx2">
              <a:lumMod val="90000"/>
              <a:lumOff val="10000"/>
            </a:schemeClr>
          </a:solidFill>
          <a:ln w="12700">
            <a:solidFill>
              <a:srgbClr val="09111E"/>
            </a:solidFill>
            <a:prstDash val="solid"/>
          </a:ln>
        </p:spPr>
        <p:txBody>
          <a:bodyPr/>
          <a:lstStyle/>
          <a:p>
            <a:endParaRPr lang="en-US"/>
          </a:p>
        </p:txBody>
      </p:sp>
      <p:sp>
        <p:nvSpPr>
          <p:cNvPr id="6" name="Text 2">
            <a:extLst>
              <a:ext uri="{FF2B5EF4-FFF2-40B4-BE49-F238E27FC236}">
                <a16:creationId xmlns:a16="http://schemas.microsoft.com/office/drawing/2014/main" id="{A705CF15-FFF9-1365-FAD7-3CEDDBEF5499}"/>
              </a:ext>
            </a:extLst>
          </p:cNvPr>
          <p:cNvSpPr/>
          <p:nvPr/>
        </p:nvSpPr>
        <p:spPr>
          <a:xfrm>
            <a:off x="205968" y="4226817"/>
            <a:ext cx="9038616"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chemeClr val="accent4">
                    <a:lumMod val="40000"/>
                    <a:lumOff val="60000"/>
                  </a:schemeClr>
                </a:solidFill>
                <a:latin typeface="Segoe UI" panose="020B0502040204020203" pitchFamily="34" charset="0"/>
                <a:ea typeface="Segoe UI Black" panose="020B0A02040204020203" pitchFamily="34" charset="0"/>
                <a:cs typeface="Segoe UI" panose="020B0502040204020203" pitchFamily="34" charset="0"/>
              </a:rPr>
              <a:t>MARKETPLACE LENDING CASE-STUDY</a:t>
            </a:r>
          </a:p>
        </p:txBody>
      </p:sp>
      <p:pic>
        <p:nvPicPr>
          <p:cNvPr id="7" name="Image 1" descr="https://kimi-img.moonshot.cn/pub/slides/slides_tmpl/image/25-08-27-20:09:02-d2nfanh8bjvh7rlj0hvg.png">
            <a:extLst>
              <a:ext uri="{FF2B5EF4-FFF2-40B4-BE49-F238E27FC236}">
                <a16:creationId xmlns:a16="http://schemas.microsoft.com/office/drawing/2014/main" id="{3CB8E84C-552E-3326-2B4B-A6C71ADAD190}"/>
              </a:ext>
            </a:extLst>
          </p:cNvPr>
          <p:cNvPicPr>
            <a:picLocks noChangeAspect="1"/>
          </p:cNvPicPr>
          <p:nvPr/>
        </p:nvPicPr>
        <p:blipFill>
          <a:blip r:embed="rId3"/>
          <a:stretch>
            <a:fillRect/>
          </a:stretch>
        </p:blipFill>
        <p:spPr>
          <a:xfrm>
            <a:off x="10667017" y="4226818"/>
            <a:ext cx="1323439" cy="1323439"/>
          </a:xfrm>
          <a:prstGeom prst="rect">
            <a:avLst/>
          </a:prstGeom>
        </p:spPr>
      </p:pic>
      <p:sp>
        <p:nvSpPr>
          <p:cNvPr id="9" name="Text 2">
            <a:extLst>
              <a:ext uri="{FF2B5EF4-FFF2-40B4-BE49-F238E27FC236}">
                <a16:creationId xmlns:a16="http://schemas.microsoft.com/office/drawing/2014/main" id="{E898EA30-C59C-769B-A0D2-DB65D0018196}"/>
              </a:ext>
            </a:extLst>
          </p:cNvPr>
          <p:cNvSpPr/>
          <p:nvPr/>
        </p:nvSpPr>
        <p:spPr>
          <a:xfrm>
            <a:off x="205968" y="4972451"/>
            <a:ext cx="9038616" cy="958339"/>
          </a:xfrm>
          <a:prstGeom prst="rect">
            <a:avLst/>
          </a:prstGeom>
          <a:noFill/>
          <a:ln/>
        </p:spPr>
        <p:txBody>
          <a:bodyPr wrap="square" lIns="91440" tIns="45720" rIns="91440" bIns="45720" rtlCol="0" anchor="t">
            <a:spAutoFit/>
          </a:bodyPr>
          <a:lstStyle/>
          <a:p>
            <a:pPr marL="0" indent="0" algn="l">
              <a:lnSpc>
                <a:spcPct val="150000"/>
              </a:lnSpc>
              <a:buNone/>
            </a:pPr>
            <a:r>
              <a:rPr lang="en-US" sz="2000" dirty="0">
                <a:solidFill>
                  <a:schemeClr val="accent4">
                    <a:lumMod val="40000"/>
                    <a:lumOff val="60000"/>
                  </a:schemeClr>
                </a:solidFill>
                <a:latin typeface="Segoe UI" panose="020B0502040204020203" pitchFamily="34" charset="0"/>
                <a:ea typeface="Segoe UI Black" panose="020B0A02040204020203" pitchFamily="34" charset="0"/>
                <a:cs typeface="Segoe UI" panose="020B0502040204020203" pitchFamily="34" charset="0"/>
              </a:rPr>
              <a:t>Performance, Cohort Analysis, and Credit Insights</a:t>
            </a:r>
          </a:p>
          <a:p>
            <a:pPr marL="0" indent="0" algn="l">
              <a:lnSpc>
                <a:spcPct val="150000"/>
              </a:lnSpc>
              <a:buNone/>
            </a:pPr>
            <a:r>
              <a:rPr lang="en-US" sz="2000" dirty="0">
                <a:solidFill>
                  <a:schemeClr val="accent4">
                    <a:lumMod val="40000"/>
                    <a:lumOff val="60000"/>
                  </a:schemeClr>
                </a:solidFill>
                <a:latin typeface="Segoe UI" panose="020B0502040204020203" pitchFamily="34" charset="0"/>
                <a:ea typeface="Segoe UI Black" panose="020B0A02040204020203" pitchFamily="34" charset="0"/>
                <a:cs typeface="Segoe UI" panose="020B0502040204020203" pitchFamily="34" charset="0"/>
              </a:rPr>
              <a:t>Prepared by: Norberto Rancharan</a:t>
            </a:r>
          </a:p>
        </p:txBody>
      </p:sp>
    </p:spTree>
    <p:extLst>
      <p:ext uri="{BB962C8B-B14F-4D97-AF65-F5344CB8AC3E}">
        <p14:creationId xmlns:p14="http://schemas.microsoft.com/office/powerpoint/2010/main" val="3171597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blue background with squares&#10;&#10;AI-generated content may be incorrect.">
            <a:extLst>
              <a:ext uri="{FF2B5EF4-FFF2-40B4-BE49-F238E27FC236}">
                <a16:creationId xmlns:a16="http://schemas.microsoft.com/office/drawing/2014/main" id="{8F09F15F-1E89-3209-D988-F71FF63622E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1242566"/>
            <a:ext cx="4050791" cy="5615433"/>
          </a:xfrm>
          <a:prstGeom prst="rect">
            <a:avLst/>
          </a:prstGeom>
        </p:spPr>
      </p:pic>
      <p:sp>
        <p:nvSpPr>
          <p:cNvPr id="25" name="Right Triangle 24">
            <a:extLst>
              <a:ext uri="{FF2B5EF4-FFF2-40B4-BE49-F238E27FC236}">
                <a16:creationId xmlns:a16="http://schemas.microsoft.com/office/drawing/2014/main" id="{528CEB27-BD6C-99FF-DD55-264B0A20F233}"/>
              </a:ext>
            </a:extLst>
          </p:cNvPr>
          <p:cNvSpPr/>
          <p:nvPr/>
        </p:nvSpPr>
        <p:spPr>
          <a:xfrm flipH="1">
            <a:off x="0" y="1242567"/>
            <a:ext cx="4050791" cy="5615433"/>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0">
            <a:extLst>
              <a:ext uri="{FF2B5EF4-FFF2-40B4-BE49-F238E27FC236}">
                <a16:creationId xmlns:a16="http://schemas.microsoft.com/office/drawing/2014/main" id="{A5033EB0-2326-633D-C8F6-8C6BC4D16718}"/>
              </a:ext>
            </a:extLst>
          </p:cNvPr>
          <p:cNvSpPr/>
          <p:nvPr/>
        </p:nvSpPr>
        <p:spPr>
          <a:xfrm>
            <a:off x="0" y="0"/>
            <a:ext cx="12192000" cy="1250583"/>
          </a:xfrm>
          <a:prstGeom prst="rect">
            <a:avLst/>
          </a:prstGeom>
          <a:solidFill>
            <a:schemeClr val="tx2">
              <a:lumMod val="90000"/>
              <a:lumOff val="10000"/>
            </a:schemeClr>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D0EFC5AC-703E-C733-8B78-DF617971881C}"/>
              </a:ext>
            </a:extLst>
          </p:cNvPr>
          <p:cNvSpPr/>
          <p:nvPr/>
        </p:nvSpPr>
        <p:spPr>
          <a:xfrm>
            <a:off x="156611" y="263332"/>
            <a:ext cx="765242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chemeClr val="accent4">
                    <a:lumMod val="40000"/>
                    <a:lumOff val="60000"/>
                  </a:schemeClr>
                </a:solidFill>
                <a:latin typeface="Segoe UI" panose="020B0502040204020203" pitchFamily="34" charset="0"/>
                <a:ea typeface="Segoe UI Black" panose="020B0A02040204020203" pitchFamily="34" charset="0"/>
                <a:cs typeface="Segoe UI" panose="020B0502040204020203" pitchFamily="34" charset="0"/>
              </a:rPr>
              <a:t>Objectives</a:t>
            </a:r>
          </a:p>
        </p:txBody>
      </p:sp>
      <p:sp>
        <p:nvSpPr>
          <p:cNvPr id="11" name="Text 31">
            <a:extLst>
              <a:ext uri="{FF2B5EF4-FFF2-40B4-BE49-F238E27FC236}">
                <a16:creationId xmlns:a16="http://schemas.microsoft.com/office/drawing/2014/main" id="{EF0F6973-B14A-8112-6DE2-3CD3E3D1C39F}"/>
              </a:ext>
            </a:extLst>
          </p:cNvPr>
          <p:cNvSpPr>
            <a:spLocks/>
          </p:cNvSpPr>
          <p:nvPr/>
        </p:nvSpPr>
        <p:spPr>
          <a:xfrm>
            <a:off x="4214471" y="1176580"/>
            <a:ext cx="7566049" cy="5755422"/>
          </a:xfrm>
          <a:prstGeom prst="rect">
            <a:avLst/>
          </a:prstGeom>
          <a:noFill/>
          <a:ln/>
        </p:spPr>
        <p:txBody>
          <a:bodyPr wrap="square" lIns="91440" tIns="45720" rIns="91440" bIns="45720" rtlCol="0" anchor="t">
            <a:spAutoFit/>
          </a:bodyPr>
          <a:lstStyle/>
          <a:p>
            <a:pPr>
              <a:lnSpc>
                <a:spcPct val="250000"/>
              </a:lnSpc>
            </a:pPr>
            <a:r>
              <a:rPr lang="en-US" sz="2000" b="1" dirty="0">
                <a:solidFill>
                  <a:srgbClr val="0070C0"/>
                </a:solidFill>
                <a:latin typeface="Segoe UI" panose="020B0502040204020203" pitchFamily="34" charset="0"/>
                <a:ea typeface="MiSans" panose="020B0604020202020204" charset="-122"/>
                <a:cs typeface="Segoe UI" panose="020B0502040204020203" pitchFamily="34" charset="0"/>
              </a:rPr>
              <a:t>1 | Clean and validate originations dataset</a:t>
            </a:r>
          </a:p>
          <a:p>
            <a:pPr>
              <a:lnSpc>
                <a:spcPct val="250000"/>
              </a:lnSpc>
            </a:pPr>
            <a:r>
              <a:rPr lang="en-US" sz="2000" b="1" dirty="0">
                <a:solidFill>
                  <a:srgbClr val="0070C0"/>
                </a:solidFill>
                <a:latin typeface="Segoe UI" panose="020B0502040204020203" pitchFamily="34" charset="0"/>
                <a:ea typeface="MiSans" panose="020B0604020202020204" charset="-122"/>
                <a:cs typeface="Segoe UI" panose="020B0502040204020203" pitchFamily="34" charset="0"/>
              </a:rPr>
              <a:t>2 | Handling problem data and reconstruct reliable datasets</a:t>
            </a:r>
          </a:p>
          <a:p>
            <a:pPr>
              <a:lnSpc>
                <a:spcPct val="250000"/>
              </a:lnSpc>
            </a:pPr>
            <a:r>
              <a:rPr lang="en-US" sz="2000" b="1" dirty="0">
                <a:solidFill>
                  <a:srgbClr val="0070C0"/>
                </a:solidFill>
                <a:latin typeface="Segoe UI" panose="020B0502040204020203" pitchFamily="34" charset="0"/>
                <a:ea typeface="MiSans" panose="020B0604020202020204" charset="-122"/>
                <a:cs typeface="Segoe UI" panose="020B0502040204020203" pitchFamily="34" charset="0"/>
              </a:rPr>
              <a:t>3 | Build portfolio characteristics and risk stratifications</a:t>
            </a:r>
          </a:p>
          <a:p>
            <a:pPr>
              <a:lnSpc>
                <a:spcPct val="250000"/>
              </a:lnSpc>
            </a:pPr>
            <a:r>
              <a:rPr lang="en-US" sz="2000" b="1" dirty="0">
                <a:solidFill>
                  <a:srgbClr val="0070C0"/>
                </a:solidFill>
                <a:latin typeface="Segoe UI" panose="020B0502040204020203" pitchFamily="34" charset="0"/>
                <a:ea typeface="MiSans" panose="020B0604020202020204" charset="-122"/>
                <a:cs typeface="Segoe UI" panose="020B0502040204020203" pitchFamily="34" charset="0"/>
              </a:rPr>
              <a:t>4 | Construct monthly and cumulative performance curves</a:t>
            </a:r>
          </a:p>
          <a:p>
            <a:pPr>
              <a:lnSpc>
                <a:spcPct val="250000"/>
              </a:lnSpc>
            </a:pPr>
            <a:r>
              <a:rPr lang="en-US" sz="2000" b="1" dirty="0">
                <a:solidFill>
                  <a:srgbClr val="0070C0"/>
                </a:solidFill>
                <a:latin typeface="Segoe UI" panose="020B0502040204020203" pitchFamily="34" charset="0"/>
                <a:ea typeface="MiSans" panose="020B0604020202020204" charset="-122"/>
                <a:cs typeface="Segoe UI" panose="020B0502040204020203" pitchFamily="34" charset="0"/>
              </a:rPr>
              <a:t>5 | Project curves to 60 months</a:t>
            </a:r>
          </a:p>
          <a:p>
            <a:pPr>
              <a:lnSpc>
                <a:spcPct val="250000"/>
              </a:lnSpc>
            </a:pPr>
            <a:r>
              <a:rPr lang="en-US" sz="2000" b="1" dirty="0">
                <a:solidFill>
                  <a:srgbClr val="0070C0"/>
                </a:solidFill>
                <a:latin typeface="Segoe UI" panose="020B0502040204020203" pitchFamily="34" charset="0"/>
                <a:ea typeface="MiSans" panose="020B0604020202020204" charset="-122"/>
                <a:cs typeface="Segoe UI" panose="020B0502040204020203" pitchFamily="34" charset="0"/>
              </a:rPr>
              <a:t>6 | Segment risk using cohort analysis</a:t>
            </a:r>
          </a:p>
          <a:p>
            <a:pPr>
              <a:lnSpc>
                <a:spcPct val="250000"/>
              </a:lnSpc>
            </a:pPr>
            <a:r>
              <a:rPr lang="en-US" sz="2000" b="1" dirty="0">
                <a:solidFill>
                  <a:srgbClr val="0070C0"/>
                </a:solidFill>
                <a:latin typeface="Segoe UI" panose="020B0502040204020203" pitchFamily="34" charset="0"/>
                <a:ea typeface="MiSans" panose="020B0604020202020204" charset="-122"/>
                <a:cs typeface="Segoe UI" panose="020B0502040204020203" pitchFamily="34" charset="0"/>
              </a:rPr>
              <a:t>7 | Address Covid-19 vintage treatment</a:t>
            </a:r>
          </a:p>
          <a:p>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spTree>
    <p:extLst>
      <p:ext uri="{BB962C8B-B14F-4D97-AF65-F5344CB8AC3E}">
        <p14:creationId xmlns:p14="http://schemas.microsoft.com/office/powerpoint/2010/main" val="3434056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ext 2">
            <a:extLst>
              <a:ext uri="{FF2B5EF4-FFF2-40B4-BE49-F238E27FC236}">
                <a16:creationId xmlns:a16="http://schemas.microsoft.com/office/drawing/2014/main" id="{0F72101D-43E2-1A2D-E0E6-E5CE88FBD76A}"/>
              </a:ext>
            </a:extLst>
          </p:cNvPr>
          <p:cNvSpPr/>
          <p:nvPr/>
        </p:nvSpPr>
        <p:spPr>
          <a:xfrm>
            <a:off x="455521" y="4231433"/>
            <a:ext cx="9170283" cy="844682"/>
          </a:xfrm>
          <a:prstGeom prst="rect">
            <a:avLst/>
          </a:prstGeom>
        </p:spPr>
        <p:txBody>
          <a:bodyPr vert="horz" lIns="91440" tIns="45720" rIns="91440" bIns="45720" rtlCol="0" anchor="b">
            <a:no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34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rPr>
              <a:t>01-02 | DATA CLEANING AND   		     		PROBLEM DATA HANDLING</a:t>
            </a: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3508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EB4D2-A74D-244D-BB64-56E0F8A80127}"/>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0A966FB4-6C45-B401-C052-F1507A944AF3}"/>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B65BC227-2E23-B76E-0B9A-7818BDAEDFE3}"/>
              </a:ext>
            </a:extLst>
          </p:cNvPr>
          <p:cNvSpPr/>
          <p:nvPr/>
        </p:nvSpPr>
        <p:spPr>
          <a:xfrm>
            <a:off x="156611" y="263332"/>
            <a:ext cx="765242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Data Cleaning Summary</a:t>
            </a:r>
          </a:p>
        </p:txBody>
      </p:sp>
      <p:sp>
        <p:nvSpPr>
          <p:cNvPr id="6" name="Text 31">
            <a:extLst>
              <a:ext uri="{FF2B5EF4-FFF2-40B4-BE49-F238E27FC236}">
                <a16:creationId xmlns:a16="http://schemas.microsoft.com/office/drawing/2014/main" id="{8CDAD95F-989E-4A7F-CA96-F1B2C140AD32}"/>
              </a:ext>
            </a:extLst>
          </p:cNvPr>
          <p:cNvSpPr>
            <a:spLocks/>
          </p:cNvSpPr>
          <p:nvPr/>
        </p:nvSpPr>
        <p:spPr>
          <a:xfrm>
            <a:off x="173736" y="1242566"/>
            <a:ext cx="6016752" cy="6432530"/>
          </a:xfrm>
          <a:prstGeom prst="rect">
            <a:avLst/>
          </a:prstGeom>
          <a:noFill/>
          <a:ln/>
        </p:spPr>
        <p:txBody>
          <a:bodyPr wrap="square" lIns="91440" tIns="45720" rIns="91440" bIns="45720" rtlCol="0" anchor="t">
            <a:spAutoFit/>
          </a:bodyPr>
          <a:lstStyle/>
          <a:p>
            <a:pPr>
              <a:lnSpc>
                <a:spcPct val="250000"/>
              </a:lnSpc>
            </a:pPr>
            <a:r>
              <a:rPr lang="en-US" sz="2000" b="1" dirty="0">
                <a:solidFill>
                  <a:srgbClr val="0070C0"/>
                </a:solidFill>
                <a:latin typeface="Segoe UI" panose="020B0502040204020203" pitchFamily="34" charset="0"/>
                <a:ea typeface="MiSans" panose="020B0604020202020204" charset="-122"/>
                <a:cs typeface="Segoe UI" panose="020B0502040204020203" pitchFamily="34" charset="0"/>
              </a:rPr>
              <a:t>Data Quality Improvements:</a:t>
            </a:r>
            <a:endParaRPr lang="en-US" sz="14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Initial dataset:~ 41,559 loans</a:t>
            </a:r>
          </a:p>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Removed corrupted loans (Invalid FICO, DTI, Income, UPB)</a:t>
            </a:r>
          </a:p>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Weighted Average (WA) FICO: </a:t>
            </a:r>
          </a:p>
          <a:p>
            <a:pPr marL="800100" lvl="1"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2,561 observations (6.16%) exhibited out-of-range FICO scores consisting of 0 (2433 count or 95%) and 7722 (128 count or 5%)</a:t>
            </a:r>
          </a:p>
          <a:p>
            <a:pPr marL="800100" lvl="1"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 Increased after cleaning</a:t>
            </a:r>
          </a:p>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WA DTI improved:</a:t>
            </a:r>
          </a:p>
          <a:p>
            <a:pPr marL="800100" lvl="1"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Reasonable range of 0% to 60%, anything above was beyond reasonable standards and removed</a:t>
            </a:r>
          </a:p>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Verified Annual Income Range:</a:t>
            </a:r>
          </a:p>
          <a:p>
            <a:pPr marL="800100" lvl="1"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Validated to fall within $10K-$500K, anything outside was removed due to unrecoverable data corruption</a:t>
            </a:r>
          </a:p>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WA interest rate decreased</a:t>
            </a:r>
          </a:p>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Final dataset: ~38,965 loans</a:t>
            </a:r>
          </a:p>
          <a:p>
            <a:pPr>
              <a:lnSpc>
                <a:spcPct val="250000"/>
              </a:lnSpc>
            </a:pPr>
            <a:endParaRPr lang="en-US" sz="2000" b="1" dirty="0">
              <a:solidFill>
                <a:srgbClr val="0070C0"/>
              </a:solidFill>
              <a:latin typeface="Segoe UI" panose="020B0502040204020203" pitchFamily="34" charset="0"/>
              <a:ea typeface="MiSans" panose="020B0604020202020204" charset="-122"/>
              <a:cs typeface="Segoe UI" panose="020B0502040204020203" pitchFamily="34" charset="0"/>
            </a:endParaRPr>
          </a:p>
          <a:p>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pic>
        <p:nvPicPr>
          <p:cNvPr id="8" name="Picture 7">
            <a:extLst>
              <a:ext uri="{FF2B5EF4-FFF2-40B4-BE49-F238E27FC236}">
                <a16:creationId xmlns:a16="http://schemas.microsoft.com/office/drawing/2014/main" id="{22306426-636B-1C3A-A8ED-24F5C0C17234}"/>
              </a:ext>
            </a:extLst>
          </p:cNvPr>
          <p:cNvPicPr>
            <a:picLocks noChangeAspect="1"/>
          </p:cNvPicPr>
          <p:nvPr/>
        </p:nvPicPr>
        <p:blipFill>
          <a:blip r:embed="rId2"/>
          <a:stretch>
            <a:fillRect/>
          </a:stretch>
        </p:blipFill>
        <p:spPr>
          <a:xfrm>
            <a:off x="6446036" y="2372103"/>
            <a:ext cx="5038828" cy="21137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0942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AF4882-7657-4404-E416-24D56EFF711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A6B8F2C-A3CA-3672-B682-F3629C922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FA32CE99-2A9D-4785-8D61-923DB67D9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A17BE2A-928D-8B2C-6685-F224A9E828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18B0BF5F-8020-D8E7-5397-0BA05D419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6B7A65DA-BA19-1489-DCE0-7FDB42138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ext 2">
            <a:extLst>
              <a:ext uri="{FF2B5EF4-FFF2-40B4-BE49-F238E27FC236}">
                <a16:creationId xmlns:a16="http://schemas.microsoft.com/office/drawing/2014/main" id="{E35C5AFC-DACC-A2FE-53C3-100C14DC65EC}"/>
              </a:ext>
            </a:extLst>
          </p:cNvPr>
          <p:cNvSpPr/>
          <p:nvPr/>
        </p:nvSpPr>
        <p:spPr>
          <a:xfrm>
            <a:off x="455520" y="3616749"/>
            <a:ext cx="6978552" cy="844682"/>
          </a:xfrm>
          <a:prstGeom prst="rect">
            <a:avLst/>
          </a:prstGeom>
        </p:spPr>
        <p:txBody>
          <a:bodyPr vert="horz" lIns="91440" tIns="45720" rIns="91440" bIns="45720" rtlCol="0" anchor="b">
            <a:normAutofit fontScale="85000" lnSpcReduction="10000"/>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0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rPr>
              <a:t>03 | PORTFOLIO CHARACTERISTICS</a:t>
            </a:r>
          </a:p>
        </p:txBody>
      </p:sp>
      <p:sp>
        <p:nvSpPr>
          <p:cNvPr id="17" name="Rectangle 16">
            <a:extLst>
              <a:ext uri="{FF2B5EF4-FFF2-40B4-BE49-F238E27FC236}">
                <a16:creationId xmlns:a16="http://schemas.microsoft.com/office/drawing/2014/main" id="{B5617C58-8619-DC4F-BEE2-DA1B0024B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BF6B28BF-183C-D41E-AD20-039897DE6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4701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ECA91-FBF0-BBEA-E25E-E038F048E02B}"/>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C7A465EC-8CA7-7780-314F-D0947709C2FA}"/>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1CED3A9F-613E-1065-454E-AD8E92291514}"/>
              </a:ext>
            </a:extLst>
          </p:cNvPr>
          <p:cNvSpPr/>
          <p:nvPr/>
        </p:nvSpPr>
        <p:spPr>
          <a:xfrm>
            <a:off x="156611" y="263332"/>
            <a:ext cx="8859373"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Portfolio Characteristics Summary</a:t>
            </a:r>
          </a:p>
        </p:txBody>
      </p:sp>
      <p:sp>
        <p:nvSpPr>
          <p:cNvPr id="6" name="Text 31">
            <a:extLst>
              <a:ext uri="{FF2B5EF4-FFF2-40B4-BE49-F238E27FC236}">
                <a16:creationId xmlns:a16="http://schemas.microsoft.com/office/drawing/2014/main" id="{511B82B9-B39A-20FA-9750-BA1837A1BD19}"/>
              </a:ext>
            </a:extLst>
          </p:cNvPr>
          <p:cNvSpPr>
            <a:spLocks/>
          </p:cNvSpPr>
          <p:nvPr/>
        </p:nvSpPr>
        <p:spPr>
          <a:xfrm>
            <a:off x="2164080" y="1513915"/>
            <a:ext cx="7863840" cy="3908762"/>
          </a:xfrm>
          <a:prstGeom prst="rect">
            <a:avLst/>
          </a:prstGeom>
          <a:noFill/>
          <a:ln/>
        </p:spPr>
        <p:txBody>
          <a:bodyPr wrap="square" lIns="91440" tIns="45720" rIns="91440" bIns="45720" rtlCol="0" anchor="t">
            <a:spAutoFit/>
          </a:bodyPr>
          <a:lstStyle/>
          <a:p>
            <a:pPr>
              <a:lnSpc>
                <a:spcPct val="250000"/>
              </a:lnSpc>
            </a:pPr>
            <a:r>
              <a:rPr lang="en-US" sz="2000" b="1" dirty="0">
                <a:solidFill>
                  <a:srgbClr val="0070C0"/>
                </a:solidFill>
                <a:latin typeface="Segoe UI" panose="020B0502040204020203" pitchFamily="34" charset="0"/>
                <a:ea typeface="MiSans" panose="020B0604020202020204" charset="-122"/>
                <a:cs typeface="Segoe UI" panose="020B0502040204020203" pitchFamily="34" charset="0"/>
              </a:rPr>
              <a:t>Key Metrics:</a:t>
            </a:r>
            <a:endParaRPr lang="en-US" sz="14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WA FICO stable across early vintages</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Risk-based pricing: A -&gt; F shows rate increases</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Term Mix: Higher-risk borrowers concentrated in 36m loans</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Geographic Diversification: CA, TX, MI, FL, NY largest states</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Concentration risk is low: Top-100 Loans &lt; 1% of balance</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Post-loan DTI consistent across homeownership groups</a:t>
            </a:r>
          </a:p>
          <a:p>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spTree>
    <p:extLst>
      <p:ext uri="{BB962C8B-B14F-4D97-AF65-F5344CB8AC3E}">
        <p14:creationId xmlns:p14="http://schemas.microsoft.com/office/powerpoint/2010/main" val="3260290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164CF-AC11-1A1F-1E52-F2715C47229F}"/>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FC3D426F-93C8-2299-A104-F08199C234C6}"/>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EB9D5FE0-6C23-E290-411C-434EB874DA54}"/>
              </a:ext>
            </a:extLst>
          </p:cNvPr>
          <p:cNvSpPr/>
          <p:nvPr/>
        </p:nvSpPr>
        <p:spPr>
          <a:xfrm>
            <a:off x="156611" y="263332"/>
            <a:ext cx="8859373"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WA FICO by Origination Year</a:t>
            </a:r>
          </a:p>
        </p:txBody>
      </p:sp>
      <p:sp>
        <p:nvSpPr>
          <p:cNvPr id="6" name="Text 31">
            <a:extLst>
              <a:ext uri="{FF2B5EF4-FFF2-40B4-BE49-F238E27FC236}">
                <a16:creationId xmlns:a16="http://schemas.microsoft.com/office/drawing/2014/main" id="{E7D5372D-6035-A141-13EA-4E7A97188853}"/>
              </a:ext>
            </a:extLst>
          </p:cNvPr>
          <p:cNvSpPr>
            <a:spLocks/>
          </p:cNvSpPr>
          <p:nvPr/>
        </p:nvSpPr>
        <p:spPr>
          <a:xfrm>
            <a:off x="1673352" y="5345558"/>
            <a:ext cx="8845296" cy="1323439"/>
          </a:xfrm>
          <a:prstGeom prst="rect">
            <a:avLst/>
          </a:prstGeom>
          <a:noFill/>
          <a:ln/>
        </p:spPr>
        <p:txBody>
          <a:bodyPr wrap="square" lIns="91440" tIns="45720" rIns="91440" bIns="45720" rtlCol="0" anchor="t">
            <a:spAutoFit/>
          </a:bodyPr>
          <a:lstStyle/>
          <a:p>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WA FICO is stable across early vintages, dips in 2019, and partially recovers in 2020, possibly due to a shift toward slightly riskier borrowers or temporary loosening of underwriting. 2020 is a COVID‑affected vintage, but credit quality (FICO) improved possibly due to defensive underwriting.</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pic>
        <p:nvPicPr>
          <p:cNvPr id="2" name="Picture 1">
            <a:extLst>
              <a:ext uri="{FF2B5EF4-FFF2-40B4-BE49-F238E27FC236}">
                <a16:creationId xmlns:a16="http://schemas.microsoft.com/office/drawing/2014/main" id="{D1B9BB69-7372-E34A-93A4-C59A28A3E0D0}"/>
              </a:ext>
            </a:extLst>
          </p:cNvPr>
          <p:cNvPicPr>
            <a:picLocks noChangeAspect="1"/>
          </p:cNvPicPr>
          <p:nvPr/>
        </p:nvPicPr>
        <p:blipFill>
          <a:blip r:embed="rId3"/>
          <a:stretch>
            <a:fillRect/>
          </a:stretch>
        </p:blipFill>
        <p:spPr>
          <a:xfrm>
            <a:off x="2811773" y="1613912"/>
            <a:ext cx="6510541" cy="36210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6321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C12CB-0BE6-3FFA-8CDF-F732CB3A8349}"/>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79F3F35F-FB1C-5D98-2B98-7DBD5FF5FAE7}"/>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C1BF3CEC-069B-EE3B-C6CD-A94A263D0B8F}"/>
              </a:ext>
            </a:extLst>
          </p:cNvPr>
          <p:cNvSpPr/>
          <p:nvPr/>
        </p:nvSpPr>
        <p:spPr>
          <a:xfrm>
            <a:off x="156611" y="263332"/>
            <a:ext cx="8859373"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WA Interest Rate by Risk Grade</a:t>
            </a:r>
          </a:p>
        </p:txBody>
      </p:sp>
      <p:sp>
        <p:nvSpPr>
          <p:cNvPr id="6" name="Text 31">
            <a:extLst>
              <a:ext uri="{FF2B5EF4-FFF2-40B4-BE49-F238E27FC236}">
                <a16:creationId xmlns:a16="http://schemas.microsoft.com/office/drawing/2014/main" id="{03D584A0-4BBB-B16C-2371-8BEB62D76A69}"/>
              </a:ext>
            </a:extLst>
          </p:cNvPr>
          <p:cNvSpPr>
            <a:spLocks/>
          </p:cNvSpPr>
          <p:nvPr/>
        </p:nvSpPr>
        <p:spPr>
          <a:xfrm>
            <a:off x="466340" y="5244974"/>
            <a:ext cx="6647694" cy="1015663"/>
          </a:xfrm>
          <a:prstGeom prst="rect">
            <a:avLst/>
          </a:prstGeom>
          <a:noFill/>
          <a:ln/>
        </p:spPr>
        <p:txBody>
          <a:bodyPr wrap="square" lIns="91440" tIns="45720" rIns="91440" bIns="45720" rtlCol="0" anchor="t">
            <a:spAutoFit/>
          </a:bodyPr>
          <a:lstStyle/>
          <a:p>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Risk‑based pricing is working exactly as expected: interest rates increase monotonically from Grade A → F, confirming strong pricing discipline.</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pic>
        <p:nvPicPr>
          <p:cNvPr id="7" name="Picture 6">
            <a:extLst>
              <a:ext uri="{FF2B5EF4-FFF2-40B4-BE49-F238E27FC236}">
                <a16:creationId xmlns:a16="http://schemas.microsoft.com/office/drawing/2014/main" id="{0A691093-7114-E9F2-A492-50B7EF23B308}"/>
              </a:ext>
            </a:extLst>
          </p:cNvPr>
          <p:cNvPicPr>
            <a:picLocks noChangeAspect="1"/>
          </p:cNvPicPr>
          <p:nvPr/>
        </p:nvPicPr>
        <p:blipFill>
          <a:blip r:embed="rId3"/>
          <a:stretch>
            <a:fillRect/>
          </a:stretch>
        </p:blipFill>
        <p:spPr>
          <a:xfrm>
            <a:off x="576065" y="1513915"/>
            <a:ext cx="6428245" cy="3621031"/>
          </a:xfrm>
          <a:prstGeom prst="rect">
            <a:avLst/>
          </a:prstGeom>
        </p:spPr>
      </p:pic>
      <p:sp>
        <p:nvSpPr>
          <p:cNvPr id="9" name="Text 31">
            <a:extLst>
              <a:ext uri="{FF2B5EF4-FFF2-40B4-BE49-F238E27FC236}">
                <a16:creationId xmlns:a16="http://schemas.microsoft.com/office/drawing/2014/main" id="{E960DA5A-14EF-7626-1733-3CEED7A7306C}"/>
              </a:ext>
            </a:extLst>
          </p:cNvPr>
          <p:cNvSpPr>
            <a:spLocks/>
          </p:cNvSpPr>
          <p:nvPr/>
        </p:nvSpPr>
        <p:spPr>
          <a:xfrm>
            <a:off x="7229867" y="1697755"/>
            <a:ext cx="4386068" cy="2523768"/>
          </a:xfrm>
          <a:prstGeom prst="rect">
            <a:avLst/>
          </a:prstGeom>
          <a:noFill/>
          <a:ln/>
        </p:spPr>
        <p:txBody>
          <a:bodyPr wrap="square" lIns="91440" tIns="45720" rIns="91440" bIns="45720" rtlCol="0" anchor="t">
            <a:spAutoFit/>
          </a:bodyPr>
          <a:lstStyle/>
          <a:p>
            <a:r>
              <a:rPr lang="en-US" sz="2000" u="sng" dirty="0">
                <a:solidFill>
                  <a:srgbClr val="0070C0"/>
                </a:solidFill>
                <a:latin typeface="Segoe UI" panose="020B0502040204020203" pitchFamily="34" charset="0"/>
                <a:ea typeface="MiSans" panose="020B0604020202020204" charset="-122"/>
                <a:cs typeface="Segoe UI" panose="020B0502040204020203" pitchFamily="34" charset="0"/>
              </a:rPr>
              <a:t>It tells you:</a:t>
            </a:r>
          </a:p>
          <a:p>
            <a:pPr marL="342900" indent="-342900">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Higher-risk borrowers are correctly priced</a:t>
            </a:r>
          </a:p>
          <a:p>
            <a:pPr marL="342900" indent="-342900">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Lower-risk borrowers are not overcharged</a:t>
            </a:r>
          </a:p>
          <a:p>
            <a:pPr marL="342900" indent="-342900">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Pricing is predictable and rational</a:t>
            </a:r>
          </a:p>
          <a:p>
            <a:endParaRPr lang="en-US" sz="2000" dirty="0">
              <a:solidFill>
                <a:srgbClr val="0070C0"/>
              </a:solidFill>
              <a:latin typeface="Segoe UI" panose="020B0502040204020203" pitchFamily="34" charset="0"/>
              <a:ea typeface="MiSans" panose="020B0604020202020204" charset="-122"/>
              <a:cs typeface="Segoe UI" panose="020B0502040204020203" pitchFamily="34" charset="0"/>
            </a:endParaRPr>
          </a:p>
          <a:p>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spTree>
    <p:extLst>
      <p:ext uri="{BB962C8B-B14F-4D97-AF65-F5344CB8AC3E}">
        <p14:creationId xmlns:p14="http://schemas.microsoft.com/office/powerpoint/2010/main" val="2507788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72E00-025A-A069-6E9C-D76ECC14E1CD}"/>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097A8C86-E0AC-A33D-970F-0D8F4670F8D1}"/>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D28E964C-E079-70FF-0504-96223076E6E3}"/>
              </a:ext>
            </a:extLst>
          </p:cNvPr>
          <p:cNvSpPr/>
          <p:nvPr/>
        </p:nvSpPr>
        <p:spPr>
          <a:xfrm>
            <a:off x="156611" y="263332"/>
            <a:ext cx="9837781"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Exposure by State (% of Original Balance)</a:t>
            </a:r>
          </a:p>
        </p:txBody>
      </p:sp>
      <p:sp>
        <p:nvSpPr>
          <p:cNvPr id="6" name="Text 31">
            <a:extLst>
              <a:ext uri="{FF2B5EF4-FFF2-40B4-BE49-F238E27FC236}">
                <a16:creationId xmlns:a16="http://schemas.microsoft.com/office/drawing/2014/main" id="{26890787-947C-8330-1BCC-7EC360275AA6}"/>
              </a:ext>
            </a:extLst>
          </p:cNvPr>
          <p:cNvSpPr>
            <a:spLocks/>
          </p:cNvSpPr>
          <p:nvPr/>
        </p:nvSpPr>
        <p:spPr>
          <a:xfrm>
            <a:off x="810766" y="5271229"/>
            <a:ext cx="10570468" cy="1323439"/>
          </a:xfrm>
          <a:prstGeom prst="rect">
            <a:avLst/>
          </a:prstGeom>
          <a:noFill/>
          <a:ln/>
        </p:spPr>
        <p:txBody>
          <a:bodyPr wrap="square" lIns="91440" tIns="45720" rIns="91440" bIns="45720" rtlCol="0" anchor="t">
            <a:spAutoFit/>
          </a:bodyPr>
          <a:lstStyle/>
          <a:p>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The portfolio demonstrates healthy geographic diversification with a predictable concentration in large population centers. No single state poses outsized systemic risk, but the top five states should be included in enhanced monitoring due to their combined exposure.</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pic>
        <p:nvPicPr>
          <p:cNvPr id="2" name="Picture 1">
            <a:extLst>
              <a:ext uri="{FF2B5EF4-FFF2-40B4-BE49-F238E27FC236}">
                <a16:creationId xmlns:a16="http://schemas.microsoft.com/office/drawing/2014/main" id="{BB5E1D80-07EF-A4A8-F2B2-59C170FB2BDF}"/>
              </a:ext>
            </a:extLst>
          </p:cNvPr>
          <p:cNvPicPr>
            <a:picLocks noChangeAspect="1"/>
          </p:cNvPicPr>
          <p:nvPr/>
        </p:nvPicPr>
        <p:blipFill>
          <a:blip r:embed="rId3"/>
          <a:stretch>
            <a:fillRect/>
          </a:stretch>
        </p:blipFill>
        <p:spPr>
          <a:xfrm>
            <a:off x="2103111" y="1422777"/>
            <a:ext cx="6795771" cy="3822197"/>
          </a:xfrm>
          <a:prstGeom prst="rect">
            <a:avLst/>
          </a:prstGeom>
        </p:spPr>
      </p:pic>
    </p:spTree>
    <p:extLst>
      <p:ext uri="{BB962C8B-B14F-4D97-AF65-F5344CB8AC3E}">
        <p14:creationId xmlns:p14="http://schemas.microsoft.com/office/powerpoint/2010/main" val="95889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A143D-9D20-ECC1-BCB0-961B795088FF}"/>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839D7184-CC84-36D5-AE5B-FF46E6AFBF9D}"/>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ECAA3467-5992-0F0A-8D59-3E7A8C8F728C}"/>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100 Largest Loans (% of Balance)</a:t>
            </a:r>
          </a:p>
        </p:txBody>
      </p:sp>
      <p:sp>
        <p:nvSpPr>
          <p:cNvPr id="6" name="Text 31">
            <a:extLst>
              <a:ext uri="{FF2B5EF4-FFF2-40B4-BE49-F238E27FC236}">
                <a16:creationId xmlns:a16="http://schemas.microsoft.com/office/drawing/2014/main" id="{D2D46BC2-7B12-25C0-A30C-1D9662766530}"/>
              </a:ext>
            </a:extLst>
          </p:cNvPr>
          <p:cNvSpPr>
            <a:spLocks/>
          </p:cNvSpPr>
          <p:nvPr/>
        </p:nvSpPr>
        <p:spPr>
          <a:xfrm>
            <a:off x="929638" y="4590626"/>
            <a:ext cx="10570468" cy="1015663"/>
          </a:xfrm>
          <a:prstGeom prst="rect">
            <a:avLst/>
          </a:prstGeom>
          <a:noFill/>
          <a:ln/>
        </p:spPr>
        <p:txBody>
          <a:bodyPr wrap="square" lIns="91440" tIns="45720" rIns="91440" bIns="45720" rtlCol="0" anchor="t">
            <a:spAutoFit/>
          </a:bodyPr>
          <a:lstStyle/>
          <a:p>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The top 100 loans represent only 0.77% of total portfolio balance, indicating exceptionally low concentration risk and a highly granular portfolio structure that supports stable, predictable performance.</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sp>
        <p:nvSpPr>
          <p:cNvPr id="7" name="TextBox 6">
            <a:extLst>
              <a:ext uri="{FF2B5EF4-FFF2-40B4-BE49-F238E27FC236}">
                <a16:creationId xmlns:a16="http://schemas.microsoft.com/office/drawing/2014/main" id="{FF5975A8-EFD2-D082-6407-D593AB5E25D2}"/>
              </a:ext>
            </a:extLst>
          </p:cNvPr>
          <p:cNvSpPr txBox="1"/>
          <p:nvPr/>
        </p:nvSpPr>
        <p:spPr>
          <a:xfrm>
            <a:off x="3149346" y="2177932"/>
            <a:ext cx="6131052" cy="1477328"/>
          </a:xfrm>
          <a:prstGeom prst="rect">
            <a:avLst/>
          </a:prstGeom>
          <a:noFill/>
        </p:spPr>
        <p:txBody>
          <a:bodyPr wrap="square">
            <a:spAutoFit/>
          </a:bodyPr>
          <a:lstStyle/>
          <a:p>
            <a:endParaRPr lang="en-US" dirty="0"/>
          </a:p>
          <a:p>
            <a:r>
              <a:rPr lang="en-US" dirty="0"/>
              <a:t>Top 100 Balance:   4,319,103</a:t>
            </a:r>
          </a:p>
          <a:p>
            <a:r>
              <a:rPr lang="en-US" dirty="0"/>
              <a:t>Total Balance:   561,841,336</a:t>
            </a:r>
          </a:p>
          <a:p>
            <a:endParaRPr lang="en-US" dirty="0"/>
          </a:p>
          <a:p>
            <a:r>
              <a:rPr lang="en-US" dirty="0"/>
              <a:t>% of Orig Balance from 100 Largest Loans: (0.77%)</a:t>
            </a:r>
          </a:p>
        </p:txBody>
      </p:sp>
    </p:spTree>
    <p:extLst>
      <p:ext uri="{BB962C8B-B14F-4D97-AF65-F5344CB8AC3E}">
        <p14:creationId xmlns:p14="http://schemas.microsoft.com/office/powerpoint/2010/main" val="3737009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55742-538A-FE76-5E83-5D087C6F0839}"/>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C762B21F-35D7-FD58-F915-D0573646B7E5}"/>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7A4438C8-4DBE-002F-0D45-A4D1387E3F87}"/>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Monthly Payments by Risk Grade &amp; Origination Year</a:t>
            </a:r>
          </a:p>
        </p:txBody>
      </p:sp>
      <p:sp>
        <p:nvSpPr>
          <p:cNvPr id="6" name="Text 31">
            <a:extLst>
              <a:ext uri="{FF2B5EF4-FFF2-40B4-BE49-F238E27FC236}">
                <a16:creationId xmlns:a16="http://schemas.microsoft.com/office/drawing/2014/main" id="{8E80EEEA-7B9B-B1B4-8ADB-AC9BC09C4E08}"/>
              </a:ext>
            </a:extLst>
          </p:cNvPr>
          <p:cNvSpPr>
            <a:spLocks/>
          </p:cNvSpPr>
          <p:nvPr/>
        </p:nvSpPr>
        <p:spPr>
          <a:xfrm>
            <a:off x="7174049" y="1689351"/>
            <a:ext cx="4438831" cy="4093428"/>
          </a:xfrm>
          <a:prstGeom prst="rect">
            <a:avLst/>
          </a:prstGeom>
          <a:noFill/>
          <a:ln/>
        </p:spPr>
        <p:txBody>
          <a:bodyPr wrap="square" lIns="91440" tIns="45720" rIns="91440" bIns="45720" rtlCol="0" anchor="t">
            <a:spAutoFit/>
          </a:bodyPr>
          <a:lstStyle/>
          <a:p>
            <a:pPr marL="342900" indent="-342900">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The term mix shows disciplined underwriting. Prime borrowers (A-47%,B-59%,C-67%) lean toward longer term (5-Year) to support affordability.</a:t>
            </a:r>
          </a:p>
          <a:p>
            <a:pPr marL="342900" indent="-342900">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Higher‑risk borrowers (E-60%,F-61%) are concentrated in shorter terms (3-Year) to limit lifetime loss exposure. </a:t>
            </a:r>
          </a:p>
          <a:p>
            <a:pPr marL="342900" indent="-342900">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This is a positive risk‑management signal because the platform is not stretching high‑risk borrowers into long‑duration loans.</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pic>
        <p:nvPicPr>
          <p:cNvPr id="2" name="Picture 1">
            <a:extLst>
              <a:ext uri="{FF2B5EF4-FFF2-40B4-BE49-F238E27FC236}">
                <a16:creationId xmlns:a16="http://schemas.microsoft.com/office/drawing/2014/main" id="{5AD52AFC-7794-F426-4217-B9777F04925C}"/>
              </a:ext>
            </a:extLst>
          </p:cNvPr>
          <p:cNvPicPr>
            <a:picLocks noChangeAspect="1"/>
          </p:cNvPicPr>
          <p:nvPr/>
        </p:nvPicPr>
        <p:blipFill>
          <a:blip r:embed="rId3"/>
          <a:stretch>
            <a:fillRect/>
          </a:stretch>
        </p:blipFill>
        <p:spPr>
          <a:xfrm>
            <a:off x="363880" y="1689351"/>
            <a:ext cx="6640423" cy="4322169"/>
          </a:xfrm>
          <a:prstGeom prst="rect">
            <a:avLst/>
          </a:prstGeom>
        </p:spPr>
      </p:pic>
    </p:spTree>
    <p:extLst>
      <p:ext uri="{BB962C8B-B14F-4D97-AF65-F5344CB8AC3E}">
        <p14:creationId xmlns:p14="http://schemas.microsoft.com/office/powerpoint/2010/main" val="2116702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860EA-1096-A92A-02BE-6DDBCA0E4F2E}"/>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3E0AC600-D5D3-3AA5-4287-34AE16F9B136}"/>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4696CE38-ABF4-B390-5778-ADF3DF0300AC}"/>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Monthly Payments by Risk Grade &amp; Origination Year</a:t>
            </a:r>
          </a:p>
        </p:txBody>
      </p:sp>
      <p:sp>
        <p:nvSpPr>
          <p:cNvPr id="6" name="Text 31">
            <a:extLst>
              <a:ext uri="{FF2B5EF4-FFF2-40B4-BE49-F238E27FC236}">
                <a16:creationId xmlns:a16="http://schemas.microsoft.com/office/drawing/2014/main" id="{5F794F6F-0B59-6191-8287-4A37AEB0EA7D}"/>
              </a:ext>
            </a:extLst>
          </p:cNvPr>
          <p:cNvSpPr>
            <a:spLocks/>
          </p:cNvSpPr>
          <p:nvPr/>
        </p:nvSpPr>
        <p:spPr>
          <a:xfrm>
            <a:off x="2080258" y="4612294"/>
            <a:ext cx="8031482" cy="1631216"/>
          </a:xfrm>
          <a:prstGeom prst="rect">
            <a:avLst/>
          </a:prstGeom>
          <a:noFill/>
          <a:ln/>
        </p:spPr>
        <p:txBody>
          <a:bodyPr wrap="square" lIns="91440" tIns="45720" rIns="91440" bIns="45720" rtlCol="0" anchor="t">
            <a:spAutoFit/>
          </a:bodyPr>
          <a:lstStyle/>
          <a:p>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Average monthly payments decline from 2016 to 2020 across all risk grades, reflecting a shift toward longer terms and affordability‑driven loan structures. The clear and consistent payment hierarchy across grades demonstrates disciplined risk‑based pricing and stable underwriting practices.</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pic>
        <p:nvPicPr>
          <p:cNvPr id="14" name="Picture 13">
            <a:extLst>
              <a:ext uri="{FF2B5EF4-FFF2-40B4-BE49-F238E27FC236}">
                <a16:creationId xmlns:a16="http://schemas.microsoft.com/office/drawing/2014/main" id="{432BE20B-430A-ABD6-DF5A-B9BF9852841B}"/>
              </a:ext>
            </a:extLst>
          </p:cNvPr>
          <p:cNvPicPr>
            <a:picLocks noChangeAspect="1"/>
          </p:cNvPicPr>
          <p:nvPr/>
        </p:nvPicPr>
        <p:blipFill>
          <a:blip r:embed="rId3"/>
          <a:stretch>
            <a:fillRect/>
          </a:stretch>
        </p:blipFill>
        <p:spPr>
          <a:xfrm>
            <a:off x="3636264" y="1513915"/>
            <a:ext cx="4919471" cy="28270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04402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31A43-889A-B5E3-0801-B6EA3C0889F7}"/>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0CECD7D8-C942-1327-4E09-E1115B9A7AD9}"/>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47F86EA8-1D3F-B0ED-AFEE-18600C27E31A}"/>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WA Post-Loan DTI by Home Own.</a:t>
            </a:r>
          </a:p>
        </p:txBody>
      </p:sp>
      <p:sp>
        <p:nvSpPr>
          <p:cNvPr id="6" name="Text 31">
            <a:extLst>
              <a:ext uri="{FF2B5EF4-FFF2-40B4-BE49-F238E27FC236}">
                <a16:creationId xmlns:a16="http://schemas.microsoft.com/office/drawing/2014/main" id="{B591E01C-76E8-E0E8-BA35-BA647C60BCB7}"/>
              </a:ext>
            </a:extLst>
          </p:cNvPr>
          <p:cNvSpPr>
            <a:spLocks/>
          </p:cNvSpPr>
          <p:nvPr/>
        </p:nvSpPr>
        <p:spPr>
          <a:xfrm>
            <a:off x="1403131" y="4688583"/>
            <a:ext cx="9385735" cy="1015663"/>
          </a:xfrm>
          <a:prstGeom prst="rect">
            <a:avLst/>
          </a:prstGeom>
          <a:noFill/>
          <a:ln/>
        </p:spPr>
        <p:txBody>
          <a:bodyPr wrap="square" lIns="91440" tIns="45720" rIns="91440" bIns="45720" rtlCol="0" anchor="t">
            <a:spAutoFit/>
          </a:bodyPr>
          <a:lstStyle/>
          <a:p>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Weighted Average Post‑Loan DTI has a narrow spread across all home‑ownership categories, ranging from 19.3% to 20.0%, indicating strong affordability discipline and consistent underwriting standards.</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pic>
        <p:nvPicPr>
          <p:cNvPr id="7" name="Picture 6">
            <a:extLst>
              <a:ext uri="{FF2B5EF4-FFF2-40B4-BE49-F238E27FC236}">
                <a16:creationId xmlns:a16="http://schemas.microsoft.com/office/drawing/2014/main" id="{5F435406-3C00-676F-D480-5755ABD80584}"/>
              </a:ext>
            </a:extLst>
          </p:cNvPr>
          <p:cNvPicPr>
            <a:picLocks noChangeAspect="1"/>
          </p:cNvPicPr>
          <p:nvPr/>
        </p:nvPicPr>
        <p:blipFill>
          <a:blip r:embed="rId3"/>
          <a:stretch>
            <a:fillRect/>
          </a:stretch>
        </p:blipFill>
        <p:spPr>
          <a:xfrm>
            <a:off x="4363016" y="2687960"/>
            <a:ext cx="3465964" cy="14820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05388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3CDA1D-A299-0FF4-1E75-DA04F480E3DF}"/>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53E575-FB4A-EA8D-02F5-C508AC6D5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90412440-BBF8-8367-02D8-E092B267E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CE74EDF-E765-560B-77C3-CD87B9B67B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F2D98A2-3A49-3426-A6F5-756BA1E72A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3841F6A2-F22F-6ADC-9C9B-77C99189F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ext 2">
            <a:extLst>
              <a:ext uri="{FF2B5EF4-FFF2-40B4-BE49-F238E27FC236}">
                <a16:creationId xmlns:a16="http://schemas.microsoft.com/office/drawing/2014/main" id="{C72BA599-7922-C6F6-1D16-DC05D60AEA17}"/>
              </a:ext>
            </a:extLst>
          </p:cNvPr>
          <p:cNvSpPr/>
          <p:nvPr/>
        </p:nvSpPr>
        <p:spPr>
          <a:xfrm>
            <a:off x="455520" y="3616749"/>
            <a:ext cx="5707536" cy="844682"/>
          </a:xfrm>
          <a:prstGeom prst="rect">
            <a:avLst/>
          </a:prstGeom>
        </p:spPr>
        <p:txBody>
          <a:bodyPr vert="horz" lIns="91440" tIns="45720" rIns="91440" bIns="45720" rtlCol="0" anchor="b">
            <a:normAutofit fontScale="85000" lnSpcReduction="10000"/>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0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rPr>
              <a:t>04 | </a:t>
            </a:r>
            <a:r>
              <a:rPr lang="en-US" sz="4000" dirty="0">
                <a:solidFill>
                  <a:srgbClr val="96DCF8"/>
                </a:solidFill>
                <a:latin typeface="Segoe UI" panose="020B0502040204020203" pitchFamily="34" charset="0"/>
                <a:ea typeface="MiSans" panose="020B0604020202020204" charset="-122"/>
                <a:cs typeface="Segoe UI" panose="020B0502040204020203" pitchFamily="34" charset="0"/>
              </a:rPr>
              <a:t>PERFORMANCE CURVES</a:t>
            </a:r>
            <a:endParaRPr kumimoji="0" lang="en-US" sz="40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endParaRPr>
          </a:p>
        </p:txBody>
      </p:sp>
      <p:sp>
        <p:nvSpPr>
          <p:cNvPr id="17" name="Rectangle 16">
            <a:extLst>
              <a:ext uri="{FF2B5EF4-FFF2-40B4-BE49-F238E27FC236}">
                <a16:creationId xmlns:a16="http://schemas.microsoft.com/office/drawing/2014/main" id="{B7A7D550-C5DB-EC52-36BB-D619B0608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0052155A-9EC1-9E18-23DB-BC7D7200C6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6005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8563E-C4CA-9BD0-08C8-9E8F819759DE}"/>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F6362255-435D-A397-4CBA-95E213899F02}"/>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4E3F05ED-8557-F38D-9D32-68D192270354}"/>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Performance Curves Summary</a:t>
            </a:r>
          </a:p>
        </p:txBody>
      </p:sp>
      <p:sp>
        <p:nvSpPr>
          <p:cNvPr id="6" name="Text 31">
            <a:extLst>
              <a:ext uri="{FF2B5EF4-FFF2-40B4-BE49-F238E27FC236}">
                <a16:creationId xmlns:a16="http://schemas.microsoft.com/office/drawing/2014/main" id="{7197AEAB-A38E-9C1E-C52E-61C400E153BA}"/>
              </a:ext>
            </a:extLst>
          </p:cNvPr>
          <p:cNvSpPr>
            <a:spLocks/>
          </p:cNvSpPr>
          <p:nvPr/>
        </p:nvSpPr>
        <p:spPr>
          <a:xfrm>
            <a:off x="808771" y="2718998"/>
            <a:ext cx="9385735" cy="1420004"/>
          </a:xfrm>
          <a:prstGeom prst="rect">
            <a:avLst/>
          </a:prstGeom>
          <a:noFill/>
          <a:ln/>
        </p:spPr>
        <p:txBody>
          <a:bodyPr wrap="square" lIns="91440" tIns="45720" rIns="91440" bIns="45720" rtlCol="0" anchor="t">
            <a:spAutoFit/>
          </a:bodyPr>
          <a:lstStyle/>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Monthly default rates show normal early‑month emergence</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Monthly prepayment rates align with amortization and payoff behavior</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No abnormal spikes or distortions in early Month On Books (MOB) for defaults</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spTree>
    <p:extLst>
      <p:ext uri="{BB962C8B-B14F-4D97-AF65-F5344CB8AC3E}">
        <p14:creationId xmlns:p14="http://schemas.microsoft.com/office/powerpoint/2010/main" val="840407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285A6-6D64-3B9B-2CA7-41ED7E554B78}"/>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45A8A832-A437-0F80-C338-6729BAE24227}"/>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BCCA6629-C71F-EF3D-99C5-B6E7C79AE7C1}"/>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Monthly Default and Prepayment Rates</a:t>
            </a:r>
          </a:p>
        </p:txBody>
      </p:sp>
      <p:sp>
        <p:nvSpPr>
          <p:cNvPr id="6" name="Text 31">
            <a:extLst>
              <a:ext uri="{FF2B5EF4-FFF2-40B4-BE49-F238E27FC236}">
                <a16:creationId xmlns:a16="http://schemas.microsoft.com/office/drawing/2014/main" id="{C91FDA75-9576-4D36-DEEA-752343EDE537}"/>
              </a:ext>
            </a:extLst>
          </p:cNvPr>
          <p:cNvSpPr>
            <a:spLocks/>
          </p:cNvSpPr>
          <p:nvPr/>
        </p:nvSpPr>
        <p:spPr>
          <a:xfrm>
            <a:off x="543594" y="4933191"/>
            <a:ext cx="9385735" cy="1477328"/>
          </a:xfrm>
          <a:prstGeom prst="rect">
            <a:avLst/>
          </a:prstGeom>
          <a:noFill/>
          <a:ln/>
        </p:spPr>
        <p:txBody>
          <a:bodyPr wrap="square" lIns="91440" tIns="45720" rIns="91440" bIns="45720" rtlCol="0" anchor="t">
            <a:spAutoFit/>
          </a:bodyPr>
          <a:lstStyle/>
          <a:p>
            <a:pPr marL="342900" indent="-342900">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No abnormal early spikes in defaults; defaults rise modestly in early MOBs and then moderate as the pool seasons.</a:t>
            </a:r>
          </a:p>
          <a:p>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Monthly prepays are material in early months and then decay over time, consistent with refinance/turnover behavior.</a:t>
            </a:r>
          </a:p>
        </p:txBody>
      </p:sp>
      <p:pic>
        <p:nvPicPr>
          <p:cNvPr id="2" name="Picture 1">
            <a:extLst>
              <a:ext uri="{FF2B5EF4-FFF2-40B4-BE49-F238E27FC236}">
                <a16:creationId xmlns:a16="http://schemas.microsoft.com/office/drawing/2014/main" id="{C74179BE-3A6E-ADD9-9229-CC5573A911E4}"/>
              </a:ext>
            </a:extLst>
          </p:cNvPr>
          <p:cNvPicPr>
            <a:picLocks noChangeAspect="1"/>
          </p:cNvPicPr>
          <p:nvPr/>
        </p:nvPicPr>
        <p:blipFill>
          <a:blip r:embed="rId3"/>
          <a:stretch>
            <a:fillRect/>
          </a:stretch>
        </p:blipFill>
        <p:spPr>
          <a:xfrm>
            <a:off x="543594" y="1312160"/>
            <a:ext cx="7927864" cy="3621031"/>
          </a:xfrm>
          <a:prstGeom prst="rect">
            <a:avLst/>
          </a:prstGeom>
        </p:spPr>
      </p:pic>
      <p:sp>
        <p:nvSpPr>
          <p:cNvPr id="7" name="Text 31">
            <a:extLst>
              <a:ext uri="{FF2B5EF4-FFF2-40B4-BE49-F238E27FC236}">
                <a16:creationId xmlns:a16="http://schemas.microsoft.com/office/drawing/2014/main" id="{03595D18-9F07-89DD-A415-01ADD3CCBFE2}"/>
              </a:ext>
            </a:extLst>
          </p:cNvPr>
          <p:cNvSpPr>
            <a:spLocks/>
          </p:cNvSpPr>
          <p:nvPr/>
        </p:nvSpPr>
        <p:spPr>
          <a:xfrm>
            <a:off x="8587551" y="1513915"/>
            <a:ext cx="2991606" cy="2637517"/>
          </a:xfrm>
          <a:prstGeom prst="rect">
            <a:avLst/>
          </a:prstGeom>
          <a:noFill/>
          <a:ln/>
        </p:spPr>
        <p:txBody>
          <a:bodyPr wrap="square" lIns="91440" tIns="45720" rIns="91440" bIns="45720" rtlCol="0" anchor="t">
            <a:spAutoFit/>
          </a:bodyPr>
          <a:lstStyle/>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Monthly default rate measures new defaults each month as a share of the original balance. </a:t>
            </a:r>
          </a:p>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Monthly prepayment rate measures voluntary payoffs and extra principal. How quickly balances leave the pool via good exits.</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spTree>
    <p:extLst>
      <p:ext uri="{BB962C8B-B14F-4D97-AF65-F5344CB8AC3E}">
        <p14:creationId xmlns:p14="http://schemas.microsoft.com/office/powerpoint/2010/main" val="722788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9018B-B408-0654-4247-A4D92B00247B}"/>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BA5D6C54-66AB-C679-7555-6DFA2FEC0128}"/>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53DA3A44-ACCD-2679-96A8-20EBC84DD8A6}"/>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Cumulative Default and Prepayment Rates</a:t>
            </a:r>
          </a:p>
        </p:txBody>
      </p:sp>
      <p:sp>
        <p:nvSpPr>
          <p:cNvPr id="6" name="Text 31">
            <a:extLst>
              <a:ext uri="{FF2B5EF4-FFF2-40B4-BE49-F238E27FC236}">
                <a16:creationId xmlns:a16="http://schemas.microsoft.com/office/drawing/2014/main" id="{313284BD-0789-D062-112C-63A2BE4C721E}"/>
              </a:ext>
            </a:extLst>
          </p:cNvPr>
          <p:cNvSpPr>
            <a:spLocks/>
          </p:cNvSpPr>
          <p:nvPr/>
        </p:nvSpPr>
        <p:spPr>
          <a:xfrm>
            <a:off x="414566" y="4954066"/>
            <a:ext cx="10704148" cy="1723549"/>
          </a:xfrm>
          <a:prstGeom prst="rect">
            <a:avLst/>
          </a:prstGeom>
          <a:noFill/>
          <a:ln/>
        </p:spPr>
        <p:txBody>
          <a:bodyPr wrap="square" lIns="91440" tIns="45720" rIns="91440" bIns="45720" rtlCol="0" anchor="t">
            <a:spAutoFit/>
          </a:bodyPr>
          <a:lstStyle/>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High Prepayment Rate: Cumulative prepayments climb quickly, passing 25% by Month 20 and leveling near 30% by Month 47.</a:t>
            </a:r>
          </a:p>
          <a:p>
            <a:pPr marL="342900" indent="-342900">
              <a:buFont typeface="Arial" panose="020B0604020202020204" pitchFamily="34" charset="0"/>
              <a:buChar char="•"/>
            </a:pPr>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Low Default Rate: Cumulative defaults stay below 5% across the asset's historical life.</a:t>
            </a:r>
          </a:p>
          <a:p>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Both curves are steepest between Months 5 and 25, reflecting typical "seasoning" when borrowers are most likely to prepay or default.</a:t>
            </a:r>
          </a:p>
        </p:txBody>
      </p:sp>
      <p:sp>
        <p:nvSpPr>
          <p:cNvPr id="7" name="Text 31">
            <a:extLst>
              <a:ext uri="{FF2B5EF4-FFF2-40B4-BE49-F238E27FC236}">
                <a16:creationId xmlns:a16="http://schemas.microsoft.com/office/drawing/2014/main" id="{6F40DF25-229E-214C-3CA4-DF54534FC2ED}"/>
              </a:ext>
            </a:extLst>
          </p:cNvPr>
          <p:cNvSpPr>
            <a:spLocks/>
          </p:cNvSpPr>
          <p:nvPr/>
        </p:nvSpPr>
        <p:spPr>
          <a:xfrm>
            <a:off x="8444750" y="1707566"/>
            <a:ext cx="2991606" cy="1991186"/>
          </a:xfrm>
          <a:prstGeom prst="rect">
            <a:avLst/>
          </a:prstGeom>
          <a:noFill/>
          <a:ln/>
        </p:spPr>
        <p:txBody>
          <a:bodyPr wrap="square" lIns="91440" tIns="45720" rIns="91440" bIns="45720" rtlCol="0" anchor="t">
            <a:spAutoFit/>
          </a:bodyPr>
          <a:lstStyle/>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Cumulative default measures lifetime losses to date (sum of monthly defaults). </a:t>
            </a:r>
          </a:p>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Cumulative prepayments measure sum of monthly prepayments.</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pic>
        <p:nvPicPr>
          <p:cNvPr id="3" name="Picture 2">
            <a:extLst>
              <a:ext uri="{FF2B5EF4-FFF2-40B4-BE49-F238E27FC236}">
                <a16:creationId xmlns:a16="http://schemas.microsoft.com/office/drawing/2014/main" id="{C747DB54-CD78-BB42-26DE-F0301AA2DDFC}"/>
              </a:ext>
            </a:extLst>
          </p:cNvPr>
          <p:cNvPicPr>
            <a:picLocks noChangeAspect="1"/>
          </p:cNvPicPr>
          <p:nvPr/>
        </p:nvPicPr>
        <p:blipFill>
          <a:blip r:embed="rId3"/>
          <a:stretch>
            <a:fillRect/>
          </a:stretch>
        </p:blipFill>
        <p:spPr>
          <a:xfrm>
            <a:off x="414566" y="1341344"/>
            <a:ext cx="7827564" cy="3612722"/>
          </a:xfrm>
          <a:prstGeom prst="rect">
            <a:avLst/>
          </a:prstGeom>
        </p:spPr>
      </p:pic>
    </p:spTree>
    <p:extLst>
      <p:ext uri="{BB962C8B-B14F-4D97-AF65-F5344CB8AC3E}">
        <p14:creationId xmlns:p14="http://schemas.microsoft.com/office/powerpoint/2010/main" val="563156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CF6993-3EFB-4C78-2957-8EB214CA0A69}"/>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0000E82-48C5-FE94-C872-5E313D0CE6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D07B2F37-14E5-D5AA-E610-631D2A06AE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AA027F28-A109-B381-113B-DE4E82F91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15804D01-C92E-599D-3C62-F7BEDF3B5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10EF6886-8878-CCBF-DC2D-5E882FB18F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ext 2">
            <a:extLst>
              <a:ext uri="{FF2B5EF4-FFF2-40B4-BE49-F238E27FC236}">
                <a16:creationId xmlns:a16="http://schemas.microsoft.com/office/drawing/2014/main" id="{415DA280-C81A-C6E3-6037-4C2AB7B19AEB}"/>
              </a:ext>
            </a:extLst>
          </p:cNvPr>
          <p:cNvSpPr/>
          <p:nvPr/>
        </p:nvSpPr>
        <p:spPr>
          <a:xfrm>
            <a:off x="455519" y="3616749"/>
            <a:ext cx="8121990" cy="844682"/>
          </a:xfrm>
          <a:prstGeom prst="rect">
            <a:avLst/>
          </a:prstGeom>
        </p:spPr>
        <p:txBody>
          <a:bodyPr vert="horz" lIns="91440" tIns="45720" rIns="91440" bIns="45720" rtlCol="0" anchor="b">
            <a:no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34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rPr>
              <a:t>05 | PRO</a:t>
            </a:r>
            <a:r>
              <a:rPr lang="en-US" sz="3400" dirty="0">
                <a:solidFill>
                  <a:srgbClr val="96DCF8"/>
                </a:solidFill>
                <a:latin typeface="Segoe UI" panose="020B0502040204020203" pitchFamily="34" charset="0"/>
                <a:ea typeface="MiSans" panose="020B0604020202020204" charset="-122"/>
                <a:cs typeface="Segoe UI" panose="020B0502040204020203" pitchFamily="34" charset="0"/>
              </a:rPr>
              <a:t>JECT CURVES TO 60 MONTHS</a:t>
            </a:r>
            <a:endParaRPr kumimoji="0" lang="en-US" sz="34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endParaRPr>
          </a:p>
        </p:txBody>
      </p:sp>
      <p:sp>
        <p:nvSpPr>
          <p:cNvPr id="17" name="Rectangle 16">
            <a:extLst>
              <a:ext uri="{FF2B5EF4-FFF2-40B4-BE49-F238E27FC236}">
                <a16:creationId xmlns:a16="http://schemas.microsoft.com/office/drawing/2014/main" id="{39B34EA2-3E78-FCE6-6DFC-F34361459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23B3AC38-0FB0-71CD-48C5-A0CBFDEE4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1003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C7F14-DAB0-3B01-BF77-C35B3F11B6E0}"/>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2A7EC4FD-93EA-5F72-5F40-06517BA53FC5}"/>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496DD537-611C-444A-70E5-9326A165C6CB}"/>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Projected Cumulative Curves (to 60 MOB)</a:t>
            </a:r>
          </a:p>
        </p:txBody>
      </p:sp>
      <p:sp>
        <p:nvSpPr>
          <p:cNvPr id="6" name="Text 31">
            <a:extLst>
              <a:ext uri="{FF2B5EF4-FFF2-40B4-BE49-F238E27FC236}">
                <a16:creationId xmlns:a16="http://schemas.microsoft.com/office/drawing/2014/main" id="{226DC97F-3C7D-D74C-BBFB-7566C2D2F275}"/>
              </a:ext>
            </a:extLst>
          </p:cNvPr>
          <p:cNvSpPr>
            <a:spLocks/>
          </p:cNvSpPr>
          <p:nvPr/>
        </p:nvSpPr>
        <p:spPr>
          <a:xfrm>
            <a:off x="414566" y="4954066"/>
            <a:ext cx="10704148" cy="1754326"/>
          </a:xfrm>
          <a:prstGeom prst="rect">
            <a:avLst/>
          </a:prstGeom>
          <a:noFill/>
          <a:ln/>
        </p:spPr>
        <p:txBody>
          <a:bodyPr wrap="square" lIns="91440" tIns="45720" rIns="91440" bIns="45720" rtlCol="0" anchor="t">
            <a:spAutoFit/>
          </a:bodyPr>
          <a:lstStyle/>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Prepayment-driven lifecycle: Prepayments level off at 30–32% by Month 60, concentrated before Month 30, leaving cash flows stable thereafter.</a:t>
            </a: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Strong credit stability: The cumulative default rate stays under 5% through Month 60, with the added 13 months bringing almost no extra credit risk.</a:t>
            </a: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Terminal stability: After the last observed Month 47, both curves flatten, pointing to a predictable, highly "seasoned" residual pool unlikely to see sudden defaults or refinancing surges.</a:t>
            </a:r>
          </a:p>
        </p:txBody>
      </p:sp>
      <p:sp>
        <p:nvSpPr>
          <p:cNvPr id="7" name="Text 31">
            <a:extLst>
              <a:ext uri="{FF2B5EF4-FFF2-40B4-BE49-F238E27FC236}">
                <a16:creationId xmlns:a16="http://schemas.microsoft.com/office/drawing/2014/main" id="{1556004F-C9E7-552F-8D43-6121CE067A71}"/>
              </a:ext>
            </a:extLst>
          </p:cNvPr>
          <p:cNvSpPr>
            <a:spLocks/>
          </p:cNvSpPr>
          <p:nvPr/>
        </p:nvSpPr>
        <p:spPr>
          <a:xfrm>
            <a:off x="8444750" y="1707566"/>
            <a:ext cx="2991606" cy="2314352"/>
          </a:xfrm>
          <a:prstGeom prst="rect">
            <a:avLst/>
          </a:prstGeom>
          <a:noFill/>
          <a:ln/>
        </p:spPr>
        <p:txBody>
          <a:bodyPr wrap="square" lIns="91440" tIns="45720" rIns="91440" bIns="45720" rtlCol="0" anchor="t">
            <a:spAutoFit/>
          </a:bodyPr>
          <a:lstStyle/>
          <a:p>
            <a:pPr marL="342900" indent="-342900">
              <a:lnSpc>
                <a:spcPct val="150000"/>
              </a:lnSpc>
              <a:buFont typeface="Arial" panose="020B0604020202020204" pitchFamily="34" charset="0"/>
              <a:buChar char="•"/>
            </a:pPr>
            <a:r>
              <a:rPr lang="en-US" sz="1400" dirty="0">
                <a:solidFill>
                  <a:srgbClr val="0070C0"/>
                </a:solidFill>
                <a:latin typeface="Segoe UI" panose="020B0502040204020203" pitchFamily="34" charset="0"/>
                <a:ea typeface="MiSans" panose="020B0604020202020204" charset="-122"/>
                <a:cs typeface="Segoe UI" panose="020B0502040204020203" pitchFamily="34" charset="0"/>
              </a:rPr>
              <a:t>The 60-month projection demonstrates that prepayment risk, rather than credit asset degradation (defaults), is the definitive driver of this portfolio's lifecycle and cash flow velocity.</a:t>
            </a:r>
            <a:endParaRPr lang="en-US" dirty="0">
              <a:solidFill>
                <a:srgbClr val="96DCF8"/>
              </a:solidFill>
              <a:latin typeface="Segoe UI" panose="020B0502040204020203" pitchFamily="34" charset="0"/>
              <a:ea typeface="MiSans" panose="020B0604020202020204" charset="-122"/>
              <a:cs typeface="Segoe UI" panose="020B0502040204020203" pitchFamily="34" charset="0"/>
            </a:endParaRPr>
          </a:p>
        </p:txBody>
      </p:sp>
      <p:pic>
        <p:nvPicPr>
          <p:cNvPr id="8" name="Picture 7">
            <a:extLst>
              <a:ext uri="{FF2B5EF4-FFF2-40B4-BE49-F238E27FC236}">
                <a16:creationId xmlns:a16="http://schemas.microsoft.com/office/drawing/2014/main" id="{462DC558-0795-B425-BE69-3594E8C903D2}"/>
              </a:ext>
            </a:extLst>
          </p:cNvPr>
          <p:cNvPicPr>
            <a:picLocks noChangeAspect="1"/>
          </p:cNvPicPr>
          <p:nvPr/>
        </p:nvPicPr>
        <p:blipFill>
          <a:blip r:embed="rId3"/>
          <a:stretch>
            <a:fillRect/>
          </a:stretch>
        </p:blipFill>
        <p:spPr>
          <a:xfrm>
            <a:off x="414566" y="1333035"/>
            <a:ext cx="7845568" cy="3621031"/>
          </a:xfrm>
          <a:prstGeom prst="rect">
            <a:avLst/>
          </a:prstGeom>
        </p:spPr>
      </p:pic>
    </p:spTree>
    <p:extLst>
      <p:ext uri="{BB962C8B-B14F-4D97-AF65-F5344CB8AC3E}">
        <p14:creationId xmlns:p14="http://schemas.microsoft.com/office/powerpoint/2010/main" val="3355385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135DCA-D056-D6DC-1DF0-914F01EDA98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5F65DA2-C1EF-8A84-7DE9-7BE04A6C8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CDCE3E5-31BF-DF60-7240-E7407CDE2C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5E654F4-29FD-79FA-163B-67857CB93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58AE780A-3EF5-F91A-4E86-E80E577F0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A93DC4AE-1AB1-AB9D-79DD-214F42AE6A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ext 2">
            <a:extLst>
              <a:ext uri="{FF2B5EF4-FFF2-40B4-BE49-F238E27FC236}">
                <a16:creationId xmlns:a16="http://schemas.microsoft.com/office/drawing/2014/main" id="{6AAE6D4B-CA7F-D28A-94AF-54083F0E187D}"/>
              </a:ext>
            </a:extLst>
          </p:cNvPr>
          <p:cNvSpPr/>
          <p:nvPr/>
        </p:nvSpPr>
        <p:spPr>
          <a:xfrm>
            <a:off x="455520" y="3616749"/>
            <a:ext cx="5707536" cy="844682"/>
          </a:xfrm>
          <a:prstGeom prst="rect">
            <a:avLst/>
          </a:prstGeom>
        </p:spPr>
        <p:txBody>
          <a:bodyPr vert="horz" lIns="91440" tIns="45720" rIns="91440" bIns="45720" rtlCol="0" anchor="b">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34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rPr>
              <a:t>06 | </a:t>
            </a:r>
            <a:r>
              <a:rPr lang="en-US" sz="3400" dirty="0">
                <a:solidFill>
                  <a:srgbClr val="96DCF8"/>
                </a:solidFill>
                <a:latin typeface="Segoe UI" panose="020B0502040204020203" pitchFamily="34" charset="0"/>
                <a:ea typeface="MiSans" panose="020B0604020202020204" charset="-122"/>
                <a:cs typeface="Segoe UI" panose="020B0502040204020203" pitchFamily="34" charset="0"/>
              </a:rPr>
              <a:t>COHORT ANALYSIS</a:t>
            </a:r>
            <a:endParaRPr kumimoji="0" lang="en-US" sz="34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endParaRPr>
          </a:p>
        </p:txBody>
      </p:sp>
      <p:sp>
        <p:nvSpPr>
          <p:cNvPr id="17" name="Rectangle 16">
            <a:extLst>
              <a:ext uri="{FF2B5EF4-FFF2-40B4-BE49-F238E27FC236}">
                <a16:creationId xmlns:a16="http://schemas.microsoft.com/office/drawing/2014/main" id="{D936201D-C2F6-FC0C-2579-FC7AF0728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750FA126-624A-D49E-2196-BED5045DA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711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0BEF-1698-D850-6234-2EE308F6389A}"/>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B119B629-A0D5-9FA3-635D-9A2C62BEF0FF}"/>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5D68B347-9739-264F-AAAB-97CA3A8FD664}"/>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Cohort Analysis Summary</a:t>
            </a:r>
          </a:p>
        </p:txBody>
      </p:sp>
      <p:sp>
        <p:nvSpPr>
          <p:cNvPr id="3" name="Text 31">
            <a:extLst>
              <a:ext uri="{FF2B5EF4-FFF2-40B4-BE49-F238E27FC236}">
                <a16:creationId xmlns:a16="http://schemas.microsoft.com/office/drawing/2014/main" id="{45091229-D3E0-72D8-5792-9972E6788E5D}"/>
              </a:ext>
            </a:extLst>
          </p:cNvPr>
          <p:cNvSpPr>
            <a:spLocks/>
          </p:cNvSpPr>
          <p:nvPr/>
        </p:nvSpPr>
        <p:spPr>
          <a:xfrm>
            <a:off x="555852" y="1513915"/>
            <a:ext cx="9385735" cy="1881669"/>
          </a:xfrm>
          <a:prstGeom prst="rect">
            <a:avLst/>
          </a:prstGeom>
          <a:noFill/>
          <a:ln/>
        </p:spPr>
        <p:txBody>
          <a:bodyPr wrap="square" lIns="91440" tIns="45720" rIns="91440" bIns="45720" rtlCol="0" anchor="t">
            <a:spAutoFit/>
          </a:bodyPr>
          <a:lstStyle/>
          <a:p>
            <a:pPr>
              <a:lnSpc>
                <a:spcPct val="150000"/>
              </a:lnSpc>
            </a:pPr>
            <a:r>
              <a:rPr lang="en-US" sz="2000" u="sng" dirty="0">
                <a:solidFill>
                  <a:srgbClr val="0070C0"/>
                </a:solidFill>
                <a:latin typeface="Segoe UI" panose="020B0502040204020203" pitchFamily="34" charset="0"/>
                <a:ea typeface="MiSans" panose="020B0604020202020204" charset="-122"/>
                <a:cs typeface="Segoe UI" panose="020B0502040204020203" pitchFamily="34" charset="0"/>
              </a:rPr>
              <a:t>Cohort Dimensions:</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Cumulative Default Rate by FICO Band</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Cumulative Prepayment Rate by Term</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Cumulative Default Rate by Origination Year</a:t>
            </a:r>
          </a:p>
        </p:txBody>
      </p:sp>
      <p:sp>
        <p:nvSpPr>
          <p:cNvPr id="10" name="Text 31">
            <a:extLst>
              <a:ext uri="{FF2B5EF4-FFF2-40B4-BE49-F238E27FC236}">
                <a16:creationId xmlns:a16="http://schemas.microsoft.com/office/drawing/2014/main" id="{A246DDE9-09D0-72A3-E40D-0A324D172FD6}"/>
              </a:ext>
            </a:extLst>
          </p:cNvPr>
          <p:cNvSpPr>
            <a:spLocks/>
          </p:cNvSpPr>
          <p:nvPr/>
        </p:nvSpPr>
        <p:spPr>
          <a:xfrm>
            <a:off x="555851" y="3666932"/>
            <a:ext cx="9385735" cy="1881669"/>
          </a:xfrm>
          <a:prstGeom prst="rect">
            <a:avLst/>
          </a:prstGeom>
          <a:noFill/>
          <a:ln/>
        </p:spPr>
        <p:txBody>
          <a:bodyPr wrap="square" lIns="91440" tIns="45720" rIns="91440" bIns="45720" rtlCol="0" anchor="t">
            <a:spAutoFit/>
          </a:bodyPr>
          <a:lstStyle/>
          <a:p>
            <a:pPr>
              <a:lnSpc>
                <a:spcPct val="150000"/>
              </a:lnSpc>
            </a:pPr>
            <a:r>
              <a:rPr lang="en-US" sz="2000" u="sng" dirty="0">
                <a:solidFill>
                  <a:srgbClr val="0070C0"/>
                </a:solidFill>
                <a:latin typeface="Segoe UI" panose="020B0502040204020203" pitchFamily="34" charset="0"/>
                <a:ea typeface="MiSans" panose="020B0604020202020204" charset="-122"/>
                <a:cs typeface="Segoe UI" panose="020B0502040204020203" pitchFamily="34" charset="0"/>
              </a:rPr>
              <a:t>Key Findings:</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Lower FICO -&gt; Higher cumulative defaults</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36m Term Loans -&gt; Higher Prepayments</a:t>
            </a:r>
          </a:p>
          <a:p>
            <a:pPr marL="342900" indent="-342900">
              <a:lnSpc>
                <a:spcPct val="150000"/>
              </a:lnSpc>
              <a:buFont typeface="Arial" panose="020B0604020202020204" pitchFamily="34" charset="0"/>
              <a:buChar char="•"/>
            </a:pPr>
            <a:r>
              <a:rPr lang="en-US" sz="2000" dirty="0">
                <a:solidFill>
                  <a:srgbClr val="0070C0"/>
                </a:solidFill>
                <a:latin typeface="Segoe UI" panose="020B0502040204020203" pitchFamily="34" charset="0"/>
                <a:ea typeface="MiSans" panose="020B0604020202020204" charset="-122"/>
                <a:cs typeface="Segoe UI" panose="020B0502040204020203" pitchFamily="34" charset="0"/>
              </a:rPr>
              <a:t>60m Term Loans -&gt; Slower amortization, higher lifetime loss exposure</a:t>
            </a:r>
          </a:p>
        </p:txBody>
      </p:sp>
    </p:spTree>
    <p:extLst>
      <p:ext uri="{BB962C8B-B14F-4D97-AF65-F5344CB8AC3E}">
        <p14:creationId xmlns:p14="http://schemas.microsoft.com/office/powerpoint/2010/main" val="1912807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0A02B-30AF-DAD6-EF12-69A7497DFB24}"/>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1AB11254-4159-3B35-1B5A-5D6060557D96}"/>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F7A6EB7F-6542-2BF9-A436-22F80616F9B5}"/>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Cumulative Prepayment Rate by Term</a:t>
            </a:r>
          </a:p>
        </p:txBody>
      </p:sp>
      <p:sp>
        <p:nvSpPr>
          <p:cNvPr id="6" name="Text 31">
            <a:extLst>
              <a:ext uri="{FF2B5EF4-FFF2-40B4-BE49-F238E27FC236}">
                <a16:creationId xmlns:a16="http://schemas.microsoft.com/office/drawing/2014/main" id="{0B47374B-F814-6FFE-0A4F-6BC7CBE709C1}"/>
              </a:ext>
            </a:extLst>
          </p:cNvPr>
          <p:cNvSpPr>
            <a:spLocks/>
          </p:cNvSpPr>
          <p:nvPr/>
        </p:nvSpPr>
        <p:spPr>
          <a:xfrm>
            <a:off x="7161824" y="1951672"/>
            <a:ext cx="4695825" cy="2954655"/>
          </a:xfrm>
          <a:prstGeom prst="rect">
            <a:avLst/>
          </a:prstGeom>
          <a:noFill/>
          <a:ln/>
        </p:spPr>
        <p:txBody>
          <a:bodyPr wrap="square" lIns="91440" tIns="45720" rIns="91440" bIns="45720" rtlCol="0" anchor="t">
            <a:spAutoFit/>
          </a:bodyPr>
          <a:lstStyle/>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Portfolio displays a highly constrained early payoff profile, capping out under 7.5% across all cohorts over a 47-month lifecycle.</a:t>
            </a:r>
          </a:p>
          <a:p>
            <a:pPr marL="342900" indent="-342900">
              <a:buFont typeface="Arial" panose="020B0604020202020204" pitchFamily="34" charset="0"/>
              <a:buChar char="•"/>
            </a:pPr>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36m Term: Reaches absolute termination at Month 35, flatlining at 5.34%</a:t>
            </a:r>
          </a:p>
          <a:p>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60m Term: Experiences a minor late-stage liquidity event at Month 43 before flatlining at 7.44%</a:t>
            </a:r>
          </a:p>
          <a:p>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p:txBody>
      </p:sp>
      <p:pic>
        <p:nvPicPr>
          <p:cNvPr id="12" name="Picture 11">
            <a:extLst>
              <a:ext uri="{FF2B5EF4-FFF2-40B4-BE49-F238E27FC236}">
                <a16:creationId xmlns:a16="http://schemas.microsoft.com/office/drawing/2014/main" id="{88D56D8C-38A7-D995-F36C-155CE1ADAF63}"/>
              </a:ext>
            </a:extLst>
          </p:cNvPr>
          <p:cNvPicPr>
            <a:picLocks noChangeAspect="1"/>
          </p:cNvPicPr>
          <p:nvPr/>
        </p:nvPicPr>
        <p:blipFill>
          <a:blip r:embed="rId3"/>
          <a:stretch>
            <a:fillRect/>
          </a:stretch>
        </p:blipFill>
        <p:spPr>
          <a:xfrm>
            <a:off x="156611" y="1782437"/>
            <a:ext cx="7005213" cy="3852867"/>
          </a:xfrm>
          <a:prstGeom prst="rect">
            <a:avLst/>
          </a:prstGeom>
        </p:spPr>
      </p:pic>
    </p:spTree>
    <p:extLst>
      <p:ext uri="{BB962C8B-B14F-4D97-AF65-F5344CB8AC3E}">
        <p14:creationId xmlns:p14="http://schemas.microsoft.com/office/powerpoint/2010/main" val="2996702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6239A-ABCA-F428-E0DB-E0FEB660FE05}"/>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5C46362D-0BA3-E720-6921-A93A05944E46}"/>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FFB1E7AF-2148-0E46-9276-6AC71407F35A}"/>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Cumulative Default Rate by Origination Year</a:t>
            </a:r>
          </a:p>
        </p:txBody>
      </p:sp>
      <p:pic>
        <p:nvPicPr>
          <p:cNvPr id="3" name="Picture 2">
            <a:extLst>
              <a:ext uri="{FF2B5EF4-FFF2-40B4-BE49-F238E27FC236}">
                <a16:creationId xmlns:a16="http://schemas.microsoft.com/office/drawing/2014/main" id="{93B3DB0E-44DD-3686-F65A-90C29CEE324F}"/>
              </a:ext>
            </a:extLst>
          </p:cNvPr>
          <p:cNvPicPr>
            <a:picLocks noChangeAspect="1"/>
          </p:cNvPicPr>
          <p:nvPr/>
        </p:nvPicPr>
        <p:blipFill>
          <a:blip r:embed="rId3"/>
          <a:stretch>
            <a:fillRect/>
          </a:stretch>
        </p:blipFill>
        <p:spPr>
          <a:xfrm>
            <a:off x="156611" y="1510305"/>
            <a:ext cx="6977072" cy="3837390"/>
          </a:xfrm>
          <a:prstGeom prst="rect">
            <a:avLst/>
          </a:prstGeom>
        </p:spPr>
      </p:pic>
      <p:sp>
        <p:nvSpPr>
          <p:cNvPr id="10" name="Text 31">
            <a:extLst>
              <a:ext uri="{FF2B5EF4-FFF2-40B4-BE49-F238E27FC236}">
                <a16:creationId xmlns:a16="http://schemas.microsoft.com/office/drawing/2014/main" id="{F5753452-DE68-D291-5AA9-4769CFB1A203}"/>
              </a:ext>
            </a:extLst>
          </p:cNvPr>
          <p:cNvSpPr>
            <a:spLocks/>
          </p:cNvSpPr>
          <p:nvPr/>
        </p:nvSpPr>
        <p:spPr>
          <a:xfrm>
            <a:off x="7362825" y="1876069"/>
            <a:ext cx="4695825" cy="3108543"/>
          </a:xfrm>
          <a:prstGeom prst="rect">
            <a:avLst/>
          </a:prstGeom>
          <a:noFill/>
          <a:ln/>
        </p:spPr>
        <p:txBody>
          <a:bodyPr wrap="square" lIns="91440" tIns="45720" rIns="91440" bIns="45720" rtlCol="0" anchor="t">
            <a:spAutoFit/>
          </a:bodyPr>
          <a:lstStyle/>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Peak default velocity occurs between 12 and 24 Months on Book (MOB) before flattening significantly after Month 36.</a:t>
            </a:r>
          </a:p>
          <a:p>
            <a:pPr marL="342900" indent="-342900">
              <a:buFont typeface="Arial" panose="020B0604020202020204" pitchFamily="34" charset="0"/>
              <a:buChar char="•"/>
            </a:pPr>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The 2017 vintage establishes our maximum loss baseline, topping out at ~13% cumulative defaults.</a:t>
            </a:r>
          </a:p>
          <a:p>
            <a:pPr marL="342900" indent="-342900">
              <a:buFont typeface="Arial" panose="020B0604020202020204" pitchFamily="34" charset="0"/>
              <a:buChar char="•"/>
            </a:pPr>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Subsequent 2018 and 2019 vintages display a structurally lower loss curve, validating successful credit policy adjustments and tightening.</a:t>
            </a:r>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p:txBody>
      </p:sp>
    </p:spTree>
    <p:extLst>
      <p:ext uri="{BB962C8B-B14F-4D97-AF65-F5344CB8AC3E}">
        <p14:creationId xmlns:p14="http://schemas.microsoft.com/office/powerpoint/2010/main" val="2574724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08905-7C46-23A7-7ABC-998EABA32F7C}"/>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A1BF44DE-9D87-10F6-4139-299E08CDCE2C}"/>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E4BDF74C-7920-C98F-6615-CDFBC9525DF5}"/>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Cumulative Default Rate by FICO Band</a:t>
            </a:r>
          </a:p>
        </p:txBody>
      </p:sp>
      <p:sp>
        <p:nvSpPr>
          <p:cNvPr id="6" name="Text 31">
            <a:extLst>
              <a:ext uri="{FF2B5EF4-FFF2-40B4-BE49-F238E27FC236}">
                <a16:creationId xmlns:a16="http://schemas.microsoft.com/office/drawing/2014/main" id="{C5F95638-B85B-FD00-F9DB-F5E0E346E2B9}"/>
              </a:ext>
            </a:extLst>
          </p:cNvPr>
          <p:cNvSpPr>
            <a:spLocks/>
          </p:cNvSpPr>
          <p:nvPr/>
        </p:nvSpPr>
        <p:spPr>
          <a:xfrm>
            <a:off x="7143750" y="1832924"/>
            <a:ext cx="4695825" cy="4493538"/>
          </a:xfrm>
          <a:prstGeom prst="rect">
            <a:avLst/>
          </a:prstGeom>
          <a:noFill/>
          <a:ln/>
        </p:spPr>
        <p:txBody>
          <a:bodyPr wrap="square" lIns="91440" tIns="45720" rIns="91440" bIns="45720" rtlCol="0" anchor="t">
            <a:spAutoFit/>
          </a:bodyPr>
          <a:lstStyle/>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The Structural Shock (Month 36): All risk tiers track tightly together (~7%-9%) until an abrupt, near-vertical spike in defaults occurs precisely at Month 36.</a:t>
            </a:r>
          </a:p>
          <a:p>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Highest Risk: Prime (760+) finishes with the highest cumulative default rate at ~14%</a:t>
            </a:r>
          </a:p>
          <a:p>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Lowest Risk: Near-Prime (640-679) finishes with the lowest cumulative default rate at ~8%</a:t>
            </a:r>
          </a:p>
          <a:p>
            <a:endParaRPr lang="en-US" sz="800" dirty="0">
              <a:solidFill>
                <a:srgbClr val="0070C0"/>
              </a:solidFill>
              <a:latin typeface="Segoe UI" panose="020B0502040204020203" pitchFamily="34" charset="0"/>
              <a:ea typeface="MiSans" panose="020B0604020202020204" charset="-122"/>
              <a:cs typeface="Segoe UI" panose="020B0502040204020203" pitchFamily="34" charset="0"/>
            </a:endParaRPr>
          </a:p>
          <a:p>
            <a:pPr marL="342900" indent="-34290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Late-stage volatility: Confidence intervals widen significantly post-Month 30, signaling a shrinking active sample size as loans mature or prepay</a:t>
            </a:r>
          </a:p>
        </p:txBody>
      </p:sp>
      <p:pic>
        <p:nvPicPr>
          <p:cNvPr id="3" name="Picture 2">
            <a:extLst>
              <a:ext uri="{FF2B5EF4-FFF2-40B4-BE49-F238E27FC236}">
                <a16:creationId xmlns:a16="http://schemas.microsoft.com/office/drawing/2014/main" id="{A86C98E4-C4D3-7138-63A3-927A97923B9F}"/>
              </a:ext>
            </a:extLst>
          </p:cNvPr>
          <p:cNvPicPr>
            <a:picLocks noChangeAspect="1"/>
          </p:cNvPicPr>
          <p:nvPr/>
        </p:nvPicPr>
        <p:blipFill>
          <a:blip r:embed="rId3"/>
          <a:stretch>
            <a:fillRect/>
          </a:stretch>
        </p:blipFill>
        <p:spPr>
          <a:xfrm>
            <a:off x="156611" y="1561575"/>
            <a:ext cx="7029450" cy="3866198"/>
          </a:xfrm>
          <a:prstGeom prst="rect">
            <a:avLst/>
          </a:prstGeom>
        </p:spPr>
      </p:pic>
    </p:spTree>
    <p:extLst>
      <p:ext uri="{BB962C8B-B14F-4D97-AF65-F5344CB8AC3E}">
        <p14:creationId xmlns:p14="http://schemas.microsoft.com/office/powerpoint/2010/main" val="1799441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58282B-12F4-D2B6-B24C-71395295F0A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34DC172-AC92-5167-BBA0-D8908BB98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E320374-8223-FFC7-2216-3037A795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91CABDFF-6652-16FB-31C1-154FDC8BF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C5C8623-68F0-1EEB-82AD-3CC0159155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87C8F2BF-69FB-623D-CFB7-F3996B899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ext 2">
            <a:extLst>
              <a:ext uri="{FF2B5EF4-FFF2-40B4-BE49-F238E27FC236}">
                <a16:creationId xmlns:a16="http://schemas.microsoft.com/office/drawing/2014/main" id="{47B800B5-3653-D466-A26A-523EE16A2D54}"/>
              </a:ext>
            </a:extLst>
          </p:cNvPr>
          <p:cNvSpPr/>
          <p:nvPr/>
        </p:nvSpPr>
        <p:spPr>
          <a:xfrm>
            <a:off x="455520" y="3616749"/>
            <a:ext cx="7221630" cy="844682"/>
          </a:xfrm>
          <a:prstGeom prst="rect">
            <a:avLst/>
          </a:prstGeom>
        </p:spPr>
        <p:txBody>
          <a:bodyPr vert="horz" lIns="91440" tIns="45720" rIns="91440" bIns="45720" rtlCol="0" anchor="b">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34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rPr>
              <a:t>07 | COVID</a:t>
            </a:r>
            <a:r>
              <a:rPr lang="en-US" sz="3400" dirty="0">
                <a:solidFill>
                  <a:srgbClr val="96DCF8"/>
                </a:solidFill>
                <a:latin typeface="Segoe UI" panose="020B0502040204020203" pitchFamily="34" charset="0"/>
                <a:ea typeface="MiSans" panose="020B0604020202020204" charset="-122"/>
                <a:cs typeface="Segoe UI" panose="020B0502040204020203" pitchFamily="34" charset="0"/>
              </a:rPr>
              <a:t>-19 VINTAGE TREATMENT</a:t>
            </a:r>
            <a:endParaRPr kumimoji="0" lang="en-US" sz="3400" b="0" i="0" u="none" strike="noStrike" kern="1200" cap="none" spc="0" normalizeH="0" baseline="0" noProof="0" dirty="0">
              <a:ln>
                <a:noFill/>
              </a:ln>
              <a:solidFill>
                <a:srgbClr val="96DCF8"/>
              </a:solidFill>
              <a:effectLst/>
              <a:uLnTx/>
              <a:uFillTx/>
              <a:latin typeface="Segoe UI" panose="020B0502040204020203" pitchFamily="34" charset="0"/>
              <a:ea typeface="MiSans" panose="020B0604020202020204" charset="-122"/>
              <a:cs typeface="Segoe UI" panose="020B0502040204020203" pitchFamily="34" charset="0"/>
            </a:endParaRPr>
          </a:p>
        </p:txBody>
      </p:sp>
      <p:sp>
        <p:nvSpPr>
          <p:cNvPr id="17" name="Rectangle 16">
            <a:extLst>
              <a:ext uri="{FF2B5EF4-FFF2-40B4-BE49-F238E27FC236}">
                <a16:creationId xmlns:a16="http://schemas.microsoft.com/office/drawing/2014/main" id="{E419E8F2-A08F-E7C4-B781-29BDBBF6C0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A346F501-7AD9-EC0B-3386-A8B34D0AE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035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34D77-1BEF-5B6D-2CFC-D678FD66714F}"/>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643BFE65-76FD-3B6C-6D9C-63599EBBFF78}"/>
              </a:ext>
            </a:extLst>
          </p:cNvPr>
          <p:cNvSpPr/>
          <p:nvPr/>
        </p:nvSpPr>
        <p:spPr>
          <a:xfrm>
            <a:off x="0" y="-8016"/>
            <a:ext cx="12192000" cy="1250583"/>
          </a:xfrm>
          <a:prstGeom prst="rect">
            <a:avLst/>
          </a:prstGeom>
          <a:solidFill>
            <a:schemeClr val="accent1"/>
          </a:solidFill>
          <a:ln w="12700">
            <a:solidFill>
              <a:srgbClr val="09111E"/>
            </a:solidFill>
            <a:prstDash val="solid"/>
          </a:ln>
        </p:spPr>
        <p:txBody>
          <a:bodyPr/>
          <a:lstStyle/>
          <a:p>
            <a:endParaRPr lang="en-US"/>
          </a:p>
        </p:txBody>
      </p:sp>
      <p:sp>
        <p:nvSpPr>
          <p:cNvPr id="5" name="Text 2">
            <a:extLst>
              <a:ext uri="{FF2B5EF4-FFF2-40B4-BE49-F238E27FC236}">
                <a16:creationId xmlns:a16="http://schemas.microsoft.com/office/drawing/2014/main" id="{611DDCED-7082-A176-8B73-4D8E797CDB07}"/>
              </a:ext>
            </a:extLst>
          </p:cNvPr>
          <p:cNvSpPr/>
          <p:nvPr/>
        </p:nvSpPr>
        <p:spPr>
          <a:xfrm>
            <a:off x="156611" y="263332"/>
            <a:ext cx="12955885" cy="707886"/>
          </a:xfrm>
          <a:prstGeom prst="rect">
            <a:avLst/>
          </a:prstGeom>
          <a:noFill/>
          <a:ln/>
        </p:spPr>
        <p:txBody>
          <a:bodyPr wrap="square" lIns="91440" tIns="45720" rIns="91440" bIns="45720" rtlCol="0" anchor="t">
            <a:spAutoFit/>
          </a:bodyPr>
          <a:lstStyle/>
          <a:p>
            <a:pPr marL="0" indent="0" algn="l">
              <a:lnSpc>
                <a:spcPct val="100000"/>
              </a:lnSpc>
              <a:buNone/>
            </a:pPr>
            <a:r>
              <a:rPr lang="en-US" sz="4000" dirty="0">
                <a:solidFill>
                  <a:srgbClr val="96DCF8"/>
                </a:solidFill>
                <a:latin typeface="Segoe UI" panose="020B0502040204020203" pitchFamily="34" charset="0"/>
                <a:ea typeface="Segoe UI Black" panose="020B0A02040204020203" pitchFamily="34" charset="0"/>
                <a:cs typeface="Segoe UI" panose="020B0502040204020203" pitchFamily="34" charset="0"/>
              </a:rPr>
              <a:t>COVID-19 Vintage Treatment</a:t>
            </a:r>
          </a:p>
        </p:txBody>
      </p:sp>
      <p:sp>
        <p:nvSpPr>
          <p:cNvPr id="10" name="Text 31">
            <a:extLst>
              <a:ext uri="{FF2B5EF4-FFF2-40B4-BE49-F238E27FC236}">
                <a16:creationId xmlns:a16="http://schemas.microsoft.com/office/drawing/2014/main" id="{9371EEA8-70A3-D407-C6E9-178D9F475A37}"/>
              </a:ext>
            </a:extLst>
          </p:cNvPr>
          <p:cNvSpPr>
            <a:spLocks/>
          </p:cNvSpPr>
          <p:nvPr/>
        </p:nvSpPr>
        <p:spPr>
          <a:xfrm>
            <a:off x="947187" y="1798528"/>
            <a:ext cx="8663538" cy="3416320"/>
          </a:xfrm>
          <a:prstGeom prst="rect">
            <a:avLst/>
          </a:prstGeom>
          <a:noFill/>
          <a:ln/>
        </p:spPr>
        <p:txBody>
          <a:bodyPr wrap="square" lIns="91440" tIns="45720" rIns="91440" bIns="45720" rtlCol="0" anchor="t">
            <a:spAutoFit/>
          </a:bodyPr>
          <a:lstStyle/>
          <a:p>
            <a:r>
              <a:rPr lang="en-US" dirty="0">
                <a:solidFill>
                  <a:srgbClr val="0070C0"/>
                </a:solidFill>
                <a:latin typeface="Segoe UI" panose="020B0502040204020203" pitchFamily="34" charset="0"/>
                <a:ea typeface="MiSans" panose="020B0604020202020204" charset="-122"/>
                <a:cs typeface="Segoe UI" panose="020B0502040204020203" pitchFamily="34" charset="0"/>
              </a:rPr>
              <a:t>2020 vintages were affected by:</a:t>
            </a:r>
          </a:p>
          <a:p>
            <a:endParaRPr lang="en-US" dirty="0">
              <a:solidFill>
                <a:srgbClr val="0070C0"/>
              </a:solidFill>
              <a:latin typeface="Segoe UI" panose="020B0502040204020203" pitchFamily="34" charset="0"/>
              <a:ea typeface="MiSans" panose="020B0604020202020204" charset="-122"/>
              <a:cs typeface="Segoe UI" panose="020B0502040204020203" pitchFamily="34" charset="0"/>
            </a:endParaRPr>
          </a:p>
          <a:p>
            <a:pPr marL="285750" indent="-28575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Payment deferrals</a:t>
            </a:r>
          </a:p>
          <a:p>
            <a:pPr marL="285750" indent="-28575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Forbearance programs</a:t>
            </a:r>
          </a:p>
          <a:p>
            <a:pPr marL="285750" indent="-28575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Stimulus-driven prepayments</a:t>
            </a:r>
          </a:p>
          <a:p>
            <a:pPr marL="285750" indent="-28575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Temporary delinquency suppression</a:t>
            </a:r>
          </a:p>
          <a:p>
            <a:pPr marL="285750" indent="-285750">
              <a:buFont typeface="Arial" panose="020B0604020202020204" pitchFamily="34" charset="0"/>
              <a:buChar char="•"/>
            </a:pPr>
            <a:endParaRPr lang="en-US" dirty="0">
              <a:solidFill>
                <a:srgbClr val="0070C0"/>
              </a:solidFill>
              <a:latin typeface="Segoe UI" panose="020B0502040204020203" pitchFamily="34" charset="0"/>
              <a:ea typeface="MiSans" panose="020B0604020202020204" charset="-122"/>
              <a:cs typeface="Segoe UI" panose="020B0502040204020203" pitchFamily="34" charset="0"/>
            </a:endParaRPr>
          </a:p>
          <a:p>
            <a:r>
              <a:rPr lang="en-US" b="1" dirty="0">
                <a:solidFill>
                  <a:srgbClr val="0070C0"/>
                </a:solidFill>
                <a:latin typeface="Segoe UI" panose="020B0502040204020203" pitchFamily="34" charset="0"/>
                <a:ea typeface="MiSans" panose="020B0604020202020204" charset="-122"/>
                <a:cs typeface="Segoe UI" panose="020B0502040204020203" pitchFamily="34" charset="0"/>
              </a:rPr>
              <a:t>Recommended Approach</a:t>
            </a:r>
          </a:p>
          <a:p>
            <a:endParaRPr lang="en-US" dirty="0">
              <a:solidFill>
                <a:srgbClr val="0070C0"/>
              </a:solidFill>
              <a:latin typeface="Segoe UI" panose="020B0502040204020203" pitchFamily="34" charset="0"/>
              <a:ea typeface="MiSans" panose="020B0604020202020204" charset="-122"/>
              <a:cs typeface="Segoe UI" panose="020B0502040204020203" pitchFamily="34" charset="0"/>
            </a:endParaRPr>
          </a:p>
          <a:p>
            <a:pPr marL="285750" indent="-28575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Include 2020 vintages but tag them as COVID-affected.</a:t>
            </a:r>
          </a:p>
          <a:p>
            <a:pPr marL="285750" indent="-28575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Use 2017–2019 vintages for base-case curve calibration.</a:t>
            </a:r>
          </a:p>
          <a:p>
            <a:pPr marL="285750" indent="-285750">
              <a:buFont typeface="Arial" panose="020B0604020202020204" pitchFamily="34" charset="0"/>
              <a:buChar char="•"/>
            </a:pPr>
            <a:r>
              <a:rPr lang="en-US" dirty="0">
                <a:solidFill>
                  <a:srgbClr val="0070C0"/>
                </a:solidFill>
                <a:latin typeface="Segoe UI" panose="020B0502040204020203" pitchFamily="34" charset="0"/>
                <a:ea typeface="MiSans" panose="020B0604020202020204" charset="-122"/>
                <a:cs typeface="Segoe UI" panose="020B0502040204020203" pitchFamily="34" charset="0"/>
              </a:rPr>
              <a:t>Use 2020 vintages as a stress scenario reference.</a:t>
            </a:r>
          </a:p>
        </p:txBody>
      </p:sp>
    </p:spTree>
    <p:extLst>
      <p:ext uri="{BB962C8B-B14F-4D97-AF65-F5344CB8AC3E}">
        <p14:creationId xmlns:p14="http://schemas.microsoft.com/office/powerpoint/2010/main" val="1511291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4307</TotalTime>
  <Words>3952</Words>
  <Application>Microsoft Office PowerPoint</Application>
  <PresentationFormat>Widescreen</PresentationFormat>
  <Paragraphs>244</Paragraphs>
  <Slides>26</Slides>
  <Notes>15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Aptos</vt:lpstr>
      <vt:lpstr>Aptos Display</vt:lpstr>
      <vt:lpstr>Arial</vt:lpstr>
      <vt:lpstr>Calibri</vt:lpstr>
      <vt:lpstr>Segoe UI</vt:lpstr>
      <vt:lpstr>Office Theme</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Norberto Rancharan</dc:creator>
  <cp:lastModifiedBy>Norberto Rancharan</cp:lastModifiedBy>
  <cp:revision>3</cp:revision>
  <dcterms:created xsi:type="dcterms:W3CDTF">2025-10-14T03:42:55Z</dcterms:created>
  <dcterms:modified xsi:type="dcterms:W3CDTF">2026-07-13T16:03:46Z</dcterms:modified>
</cp:coreProperties>
</file>